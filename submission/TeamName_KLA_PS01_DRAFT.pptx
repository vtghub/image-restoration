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17144f989240b7" /><Relationship Type="http://schemas.openxmlformats.org/officeDocument/2006/relationships/extended-properties" Target="/docProps/app.xml" Id="Ra39e899621044f12" /><Relationship Type="http://schemas.openxmlformats.org/officeDocument/2006/relationships/officeDocument" Target="/ppt/presentation.xml" Id="R296134e784a347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dcc1b8c6af4fc3"/>
  </p:sldMasterIdLst>
  <p:notesMasterIdLst>
    <p:notesMasterId xmlns:r="http://schemas.openxmlformats.org/officeDocument/2006/relationships" r:id="R8b6767dee81c4595"/>
  </p:notesMasterIdLst>
  <p:sldIdLst>
    <p:sldId xmlns:r="http://schemas.openxmlformats.org/officeDocument/2006/relationships" id="256" r:id="Rebe0d28222394a6c"/>
    <p:sldId xmlns:r="http://schemas.openxmlformats.org/officeDocument/2006/relationships" id="257" r:id="R89216c1e01ed4726"/>
    <p:sldId xmlns:r="http://schemas.openxmlformats.org/officeDocument/2006/relationships" id="258" r:id="R14887d041cf64352"/>
    <p:sldId xmlns:r="http://schemas.openxmlformats.org/officeDocument/2006/relationships" id="259" r:id="R859d6dd7ab674854"/>
    <p:sldId xmlns:r="http://schemas.openxmlformats.org/officeDocument/2006/relationships" id="260" r:id="R2a9e228edc484845"/>
    <p:sldId xmlns:r="http://schemas.openxmlformats.org/officeDocument/2006/relationships" id="261" r:id="R1937333bf8a047b1"/>
    <p:sldId xmlns:r="http://schemas.openxmlformats.org/officeDocument/2006/relationships" id="262" r:id="Rd69609ded8584bdd"/>
    <p:sldId xmlns:r="http://schemas.openxmlformats.org/officeDocument/2006/relationships" id="263" r:id="Ra913b645d0224488"/>
    <p:sldId xmlns:r="http://schemas.openxmlformats.org/officeDocument/2006/relationships" id="264" r:id="R6fcd01a104144d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5cc484b11447d3" /><Relationship Type="http://schemas.openxmlformats.org/officeDocument/2006/relationships/slideMaster" Target="/ppt/slideMasters/slideMaster1.xml" Id="R25dcc1b8c6af4fc3" /><Relationship Type="http://schemas.openxmlformats.org/officeDocument/2006/relationships/notesMaster" Target="/ppt/notesMasters/notesMaster1.xml" Id="R8b6767dee81c4595" /><Relationship Type="http://schemas.openxmlformats.org/officeDocument/2006/relationships/presProps" Target="/ppt/presProps.xml" Id="R34e9a808f8de4cbe" /><Relationship Type="http://schemas.openxmlformats.org/officeDocument/2006/relationships/viewProps" Target="/ppt/viewProps.xml" Id="R237d2e38662a4efc" /><Relationship Type="http://schemas.openxmlformats.org/officeDocument/2006/relationships/tableStyles" Target="/ppt/tableStyles.xml" Id="Rd31bf81628484761" /><Relationship Type="http://schemas.openxmlformats.org/officeDocument/2006/relationships/slide" Target="/ppt/slides/slide1.xml" Id="Rebe0d28222394a6c" /><Relationship Type="http://schemas.openxmlformats.org/officeDocument/2006/relationships/slide" Target="/ppt/slides/slide2.xml" Id="R89216c1e01ed4726" /><Relationship Type="http://schemas.openxmlformats.org/officeDocument/2006/relationships/slide" Target="/ppt/slides/slide3.xml" Id="R14887d041cf64352" /><Relationship Type="http://schemas.openxmlformats.org/officeDocument/2006/relationships/slide" Target="/ppt/slides/slide4.xml" Id="R859d6dd7ab674854" /><Relationship Type="http://schemas.openxmlformats.org/officeDocument/2006/relationships/slide" Target="/ppt/slides/slide5.xml" Id="R2a9e228edc484845" /><Relationship Type="http://schemas.openxmlformats.org/officeDocument/2006/relationships/slide" Target="/ppt/slides/slide6.xml" Id="R1937333bf8a047b1" /><Relationship Type="http://schemas.openxmlformats.org/officeDocument/2006/relationships/slide" Target="/ppt/slides/slide7.xml" Id="Rd69609ded8584bdd" /><Relationship Type="http://schemas.openxmlformats.org/officeDocument/2006/relationships/slide" Target="/ppt/slides/slide8.xml" Id="Ra913b645d0224488" /><Relationship Type="http://schemas.openxmlformats.org/officeDocument/2006/relationships/slide" Target="/ppt/slides/slide9.xml" Id="R6fcd01a104144d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ade76561f940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90d40765fd48d7" /><Relationship Type="http://schemas.openxmlformats.org/officeDocument/2006/relationships/notesMaster" Target="/ppt/notesMasters/notesMaster1.xml" Id="Rae54bb57dc774e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f26a3c8b5c4922" /><Relationship Type="http://schemas.openxmlformats.org/officeDocument/2006/relationships/notesMaster" Target="/ppt/notesMasters/notesMaster1.xml" Id="R2adf8650815c47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bf7bef7c224812" /><Relationship Type="http://schemas.openxmlformats.org/officeDocument/2006/relationships/notesMaster" Target="/ppt/notesMasters/notesMaster1.xml" Id="R888a32bb1ed043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a36bde7dc740d1" /><Relationship Type="http://schemas.openxmlformats.org/officeDocument/2006/relationships/notesMaster" Target="/ppt/notesMasters/notesMaster1.xml" Id="Re142264f9ee949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fc925aaf5944c1" /><Relationship Type="http://schemas.openxmlformats.org/officeDocument/2006/relationships/notesMaster" Target="/ppt/notesMasters/notesMaster1.xml" Id="R7d4bb44bd75849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28c5ce856244a6" /><Relationship Type="http://schemas.openxmlformats.org/officeDocument/2006/relationships/notesMaster" Target="/ppt/notesMasters/notesMaster1.xml" Id="Rc52088f35b1d47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5b432df6604a69" /><Relationship Type="http://schemas.openxmlformats.org/officeDocument/2006/relationships/notesMaster" Target="/ppt/notesMasters/notesMaster1.xml" Id="Rd235058546014b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e3b461613f4d53" /><Relationship Type="http://schemas.openxmlformats.org/officeDocument/2006/relationships/notesMaster" Target="/ppt/notesMasters/notesMaster1.xml" Id="R0ba0a4bcd9ee44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cdbf532e3d424b" /><Relationship Type="http://schemas.openxmlformats.org/officeDocument/2006/relationships/notesMaster" Target="/ppt/notesMasters/notesMaster1.xml" Id="Ra356b189d74740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i4C Hackathon 2026 problem statements: https://i4c.in/hackathon-2026/#ps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i4C Hackathon 2026 problem statements: https://i4c.in/hackathon-2026/#ps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Project implementation and run artifacts in this repository. Task data protocol: https://i4c.in/hackathon-2026/#ps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Measured inference and design are documented in the project README and artifacts/final_cpu. Task data protocol: https://i4c.in/hackathon-2026/#ps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Metrics calculated by evaluate.py and score.py in this repository; validation uses a deterministic held-out subset of the official paired training set.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PyTorch documentation: https://pytorch.org/docs/stable/index.html</a:t>
            </a:r>
            <a:endParaRPr/>
          </a:p>
          <a:p xmlns:a="http://schemas.openxmlformats.org/drawingml/2006/main">
            <a:r>
              <a:t>LPIPS reference: https://arxiv.org/abs/1801.03924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Replace both bracketed fields only after the public repository and optional demo are published.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https://i4c.in/hackathon-2026/#ps</a:t>
            </a:r>
            <a:endParaRPr/>
          </a:p>
          <a:p xmlns:a="http://schemas.openxmlformats.org/drawingml/2006/main">
            <a:r>
              <a:t>https://arxiv.org/abs/1801.03924</a:t>
            </a:r>
            <a:endParaRPr/>
          </a:p>
          <a:p xmlns:a="http://schemas.openxmlformats.org/drawingml/2006/main">
            <a:r>
              <a:t>https://doi.org/10.1109/TIP.2003.819861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017ecd4dd344c4" /><Relationship Type="http://schemas.openxmlformats.org/officeDocument/2006/relationships/image" Target="/ppt/media/image.jpeg" Id="Rbbafb463c5444763" /><Relationship Type="http://schemas.openxmlformats.org/officeDocument/2006/relationships/image" Target="/ppt/media/image.png" Id="Ra59d5cda171941d6" /><Relationship Type="http://schemas.openxmlformats.org/officeDocument/2006/relationships/image" Target="/ppt/media/image2.png" Id="R7109e9f088474cf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hape 0">
            <a:extLst xmlns:a="http://schemas.openxmlformats.org/drawingml/2006/main">
              <a:ext uri="{FF2B5EF4-FFF2-40B4-BE49-F238E27FC236}">
                <a16:creationId xmlns:a16="http://schemas.microsoft.com/office/drawing/2014/main" id="{2BD26DD0-A441-CDA1-C7C4-500C0B48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afb463c5444763">
            <a:alphaModFix amt="15000"/>
          </a:blip>
          <a:srcRect xmlns:a="http://schemas.openxmlformats.org/drawingml/2006/main" l="12327" t="0" r="12327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5" name="Shape 1">
            <a:extLst xmlns:a="http://schemas.openxmlformats.org/drawingml/2006/main">
              <a:ext uri="{FF2B5EF4-FFF2-40B4-BE49-F238E27FC236}">
                <a16:creationId xmlns:a16="http://schemas.microsoft.com/office/drawing/2014/main" id="{2896CD82-D6A3-3A0B-5BEE-489BF15E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207"/>
            <a:ext cx="11048695" cy="666598"/>
          </a:xfrm>
          <a:prstGeom xmlns:a="http://schemas.openxmlformats.org/drawingml/2006/main" prst="roundRect">
            <a:avLst>
              <a:gd name="adj" fmla="val 15677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9d5cda171941d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58500" y="381305"/>
            <a:ext cx="476402" cy="476402"/>
          </a:xfrm>
          <a:prstGeom xmlns:a="http://schemas.openxmlformats.org/drawingml/2006/main" prst="rect">
            <a:avLst/>
          </a:prstGeom>
        </p:spPr>
      </p:pic>
      <p:pic>
        <p:nvPicPr>
          <p:cNvPr id="43" name="Picture 28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9e9f088474c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356" y="381305"/>
            <a:ext cx="5745480" cy="46736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dbe6d9059d4fa6" /><Relationship Type="http://schemas.openxmlformats.org/officeDocument/2006/relationships/slideLayout" Target="/ppt/slideLayouts/slideLayout1.xml" Id="R6adc1fe7943d4d9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dc1fe7943d4d9e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0ec1736ce4697" /><Relationship Type="http://schemas.openxmlformats.org/officeDocument/2006/relationships/image" Target="/ppt/media/image.jpeg" Id="R3cb457d192444af8" /><Relationship Type="http://schemas.openxmlformats.org/officeDocument/2006/relationships/image" Target="/ppt/media/image3.png" Id="Rfbd5b054765c42b9" /><Relationship Type="http://schemas.openxmlformats.org/officeDocument/2006/relationships/image" Target="/ppt/media/image4.png" Id="Re20d931c0c944713" /><Relationship Type="http://schemas.openxmlformats.org/officeDocument/2006/relationships/image" Target="/ppt/media/image5.png" Id="Rddfd93059dd44cf7" /><Relationship Type="http://schemas.openxmlformats.org/officeDocument/2006/relationships/image" Target="/ppt/media/image6.png" Id="R23d5cf5740b74320" /><Relationship Type="http://schemas.openxmlformats.org/officeDocument/2006/relationships/image" Target="/ppt/media/image7.png" Id="Rd1096cead0e24d33" /><Relationship Type="http://schemas.openxmlformats.org/officeDocument/2006/relationships/notesSlide" Target="/ppt/notesSlides/notesSlide1.xml" Id="R15ba3045f9e141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7680fe91d44bb" /><Relationship Type="http://schemas.openxmlformats.org/officeDocument/2006/relationships/image" Target="/ppt/media/image.jpeg" Id="Rdeb90c2559864304" /><Relationship Type="http://schemas.openxmlformats.org/officeDocument/2006/relationships/image" Target="/ppt/media/image8.png" Id="R7e5167b569e94616" /><Relationship Type="http://schemas.openxmlformats.org/officeDocument/2006/relationships/image" Target="/ppt/media/image9.png" Id="R8d1bd8d4fc9b4d94" /><Relationship Type="http://schemas.openxmlformats.org/officeDocument/2006/relationships/image" Target="/ppt/media/image7.png" Id="R446f7747a6be4b60" /><Relationship Type="http://schemas.openxmlformats.org/officeDocument/2006/relationships/notesSlide" Target="/ppt/notesSlides/notesSlide2.xml" Id="R379a7608570348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5b67780d54d2e" /><Relationship Type="http://schemas.openxmlformats.org/officeDocument/2006/relationships/image" Target="/ppt/media/image.jpeg" Id="Re4723120175d4e99" /><Relationship Type="http://schemas.openxmlformats.org/officeDocument/2006/relationships/image" Target="/ppt/media/image2.jpeg" Id="R7dc6bf88b7da4ee7" /><Relationship Type="http://schemas.openxmlformats.org/officeDocument/2006/relationships/image" Target="/ppt/media/image.png" Id="Rfa66aa5547ea433a" /><Relationship Type="http://schemas.openxmlformats.org/officeDocument/2006/relationships/image" Target="/ppt/media/image10.png" Id="R80aabe07555c49a4" /><Relationship Type="http://schemas.openxmlformats.org/officeDocument/2006/relationships/image" Target="/ppt/media/image9.png" Id="Rb7efcade120642fa" /><Relationship Type="http://schemas.openxmlformats.org/officeDocument/2006/relationships/image" Target="/ppt/media/image7.png" Id="Rcc82fc34085245fc" /><Relationship Type="http://schemas.openxmlformats.org/officeDocument/2006/relationships/notesSlide" Target="/ppt/notesSlides/notesSlide3.xml" Id="R60c206b226d445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22897c713456f" /><Relationship Type="http://schemas.openxmlformats.org/officeDocument/2006/relationships/image" Target="/ppt/media/image.jpeg" Id="Rf757d12cffa744a3" /><Relationship Type="http://schemas.openxmlformats.org/officeDocument/2006/relationships/image" Target="/ppt/media/image2.jpeg" Id="Ree7476830e6c4d72" /><Relationship Type="http://schemas.openxmlformats.org/officeDocument/2006/relationships/image" Target="/ppt/media/image.png" Id="R8e38cb1d269b4578" /><Relationship Type="http://schemas.openxmlformats.org/officeDocument/2006/relationships/image" Target="/ppt/media/image11.png" Id="R525bff060ce14bd8" /><Relationship Type="http://schemas.openxmlformats.org/officeDocument/2006/relationships/image" Target="/ppt/media/image9.png" Id="R29acf3c14ea04bc5" /><Relationship Type="http://schemas.openxmlformats.org/officeDocument/2006/relationships/image" Target="/ppt/media/image7.png" Id="Raaf09607814142cd" /><Relationship Type="http://schemas.openxmlformats.org/officeDocument/2006/relationships/notesSlide" Target="/ppt/notesSlides/notesSlide4.xml" Id="Rc2f7181a2f354e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4e29767da4c5b" /><Relationship Type="http://schemas.openxmlformats.org/officeDocument/2006/relationships/image" Target="/ppt/media/image.jpeg" Id="Ra5d61a9c02f94740" /><Relationship Type="http://schemas.openxmlformats.org/officeDocument/2006/relationships/image" Target="/ppt/media/image2.jpeg" Id="R7f3616be132a49dd" /><Relationship Type="http://schemas.openxmlformats.org/officeDocument/2006/relationships/image" Target="/ppt/media/image.png" Id="Ra7b65b25109041ec" /><Relationship Type="http://schemas.openxmlformats.org/officeDocument/2006/relationships/image" Target="/ppt/media/image10.png" Id="R4b49ac02bcda4295" /><Relationship Type="http://schemas.openxmlformats.org/officeDocument/2006/relationships/image" Target="/ppt/media/image9.png" Id="Re641df9984814125" /><Relationship Type="http://schemas.openxmlformats.org/officeDocument/2006/relationships/image" Target="/ppt/media/image7.png" Id="R4ef625b4c8204aad" /><Relationship Type="http://schemas.openxmlformats.org/officeDocument/2006/relationships/notesSlide" Target="/ppt/notesSlides/notesSlide5.xml" Id="Re17b125eb24049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5fe5afe724b6d" /><Relationship Type="http://schemas.openxmlformats.org/officeDocument/2006/relationships/image" Target="/ppt/media/image.jpeg" Id="R132e4a7421524b1b" /><Relationship Type="http://schemas.openxmlformats.org/officeDocument/2006/relationships/image" Target="/ppt/media/image2.jpeg" Id="Ra25f9f669213442c" /><Relationship Type="http://schemas.openxmlformats.org/officeDocument/2006/relationships/image" Target="/ppt/media/image.png" Id="Reec22e5ee433441f" /><Relationship Type="http://schemas.openxmlformats.org/officeDocument/2006/relationships/image" Target="/ppt/media/image12.png" Id="Rffd70e2e0cdf4bdd" /><Relationship Type="http://schemas.openxmlformats.org/officeDocument/2006/relationships/image" Target="/ppt/media/image13.png" Id="R844b674105af497c" /><Relationship Type="http://schemas.openxmlformats.org/officeDocument/2006/relationships/image" Target="/ppt/media/image14.png" Id="Rca5a69634359430f" /><Relationship Type="http://schemas.openxmlformats.org/officeDocument/2006/relationships/image" Target="/ppt/media/image9.png" Id="Rc4b3fb328fcb481b" /><Relationship Type="http://schemas.openxmlformats.org/officeDocument/2006/relationships/image" Target="/ppt/media/image7.png" Id="R8fccb63b068a42fc" /><Relationship Type="http://schemas.openxmlformats.org/officeDocument/2006/relationships/notesSlide" Target="/ppt/notesSlides/notesSlide6.xml" Id="Ra71e68932ac749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0daf4be754a5b" /><Relationship Type="http://schemas.openxmlformats.org/officeDocument/2006/relationships/image" Target="/ppt/media/image.jpeg" Id="R6a0432db49484871" /><Relationship Type="http://schemas.openxmlformats.org/officeDocument/2006/relationships/image" Target="/ppt/media/image2.jpeg" Id="Ra83a5e2101c44774" /><Relationship Type="http://schemas.openxmlformats.org/officeDocument/2006/relationships/image" Target="/ppt/media/image.png" Id="Rbb1a53437f94497c" /><Relationship Type="http://schemas.openxmlformats.org/officeDocument/2006/relationships/image" Target="/ppt/media/image15.png" Id="R8c808fd0e2874b74" /><Relationship Type="http://schemas.openxmlformats.org/officeDocument/2006/relationships/image" Target="/ppt/media/image16.png" Id="R49483e88928142c9" /><Relationship Type="http://schemas.openxmlformats.org/officeDocument/2006/relationships/image" Target="/ppt/media/image17.png" Id="R2f8ad1674bb14f2b" /><Relationship Type="http://schemas.openxmlformats.org/officeDocument/2006/relationships/image" Target="/ppt/media/image18.png" Id="Rfec954626f5745f2" /><Relationship Type="http://schemas.openxmlformats.org/officeDocument/2006/relationships/image" Target="/ppt/media/image9.png" Id="R75107045ea8a478b" /><Relationship Type="http://schemas.openxmlformats.org/officeDocument/2006/relationships/image" Target="/ppt/media/image7.png" Id="R6c13909458644185" /><Relationship Type="http://schemas.openxmlformats.org/officeDocument/2006/relationships/notesSlide" Target="/ppt/notesSlides/notesSlide7.xml" Id="R4425c89ac80442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d6f8ece994040" /><Relationship Type="http://schemas.openxmlformats.org/officeDocument/2006/relationships/image" Target="/ppt/media/image.jpeg" Id="R675144a360214a68" /><Relationship Type="http://schemas.openxmlformats.org/officeDocument/2006/relationships/image" Target="/ppt/media/image2.jpeg" Id="Rcddaa567b0d34b54" /><Relationship Type="http://schemas.openxmlformats.org/officeDocument/2006/relationships/image" Target="/ppt/media/image.png" Id="R40cfa437b2bf4a3a" /><Relationship Type="http://schemas.openxmlformats.org/officeDocument/2006/relationships/image" Target="/ppt/media/image19.png" Id="R4d1e3c973192472d" /><Relationship Type="http://schemas.openxmlformats.org/officeDocument/2006/relationships/image" Target="/ppt/media/image20.png" Id="R3bbebc25cde441d6" /><Relationship Type="http://schemas.openxmlformats.org/officeDocument/2006/relationships/image" Target="/ppt/media/image21.png" Id="Re4dfd7778696494c" /><Relationship Type="http://schemas.openxmlformats.org/officeDocument/2006/relationships/image" Target="/ppt/media/image22.png" Id="Rbed012b091424d0a" /><Relationship Type="http://schemas.openxmlformats.org/officeDocument/2006/relationships/image" Target="/ppt/media/image9.png" Id="Rf9eef4b8f544483e" /><Relationship Type="http://schemas.openxmlformats.org/officeDocument/2006/relationships/image" Target="/ppt/media/image7.png" Id="Rce07748a140e4075" /><Relationship Type="http://schemas.openxmlformats.org/officeDocument/2006/relationships/notesSlide" Target="/ppt/notesSlides/notesSlide8.xml" Id="R3ac2f6b1b45c46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8830058af4f48" /><Relationship Type="http://schemas.openxmlformats.org/officeDocument/2006/relationships/image" Target="/ppt/media/image.jpeg" Id="Rb100c2485d5741df" /><Relationship Type="http://schemas.openxmlformats.org/officeDocument/2006/relationships/image" Target="/ppt/media/image2.jpeg" Id="Rc2e58fadcc354fb6" /><Relationship Type="http://schemas.openxmlformats.org/officeDocument/2006/relationships/image" Target="/ppt/media/image.png" Id="R55bdbcc44c964e4a" /><Relationship Type="http://schemas.openxmlformats.org/officeDocument/2006/relationships/image" Target="/ppt/media/image23.png" Id="Rf0666dcdd214477e" /><Relationship Type="http://schemas.openxmlformats.org/officeDocument/2006/relationships/image" Target="/ppt/media/image24.png" Id="Rc0c4da482e9e4b05" /><Relationship Type="http://schemas.openxmlformats.org/officeDocument/2006/relationships/image" Target="/ppt/media/image9.png" Id="R413171f86e4c4539" /><Relationship Type="http://schemas.openxmlformats.org/officeDocument/2006/relationships/image" Target="/ppt/media/image7.png" Id="R7fd62875ba704f52" /><Relationship Type="http://schemas.openxmlformats.org/officeDocument/2006/relationships/notesSlide" Target="/ppt/notesSlides/notesSlide9.xml" Id="Rbd6bb765100749f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7D865C2-9B87-462C-868F-495A9AF5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457d192444af8">
            <a:alphaModFix amt="15000"/>
          </a:blip>
          <a:srcRect xmlns:a="http://schemas.openxmlformats.org/drawingml/2006/main" l="12327" t="0" r="12327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B89BB1A7-8F0D-48E3-BA09-3DC56F58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47549" cy="2761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E5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52AE279A-9B3F-4F21-8FFA-4F7C55F9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405" y="1170432"/>
            <a:ext cx="2438705" cy="362102"/>
          </a:xfrm>
          <a:prstGeom xmlns:a="http://schemas.openxmlformats.org/drawingml/2006/main" prst="roundRect">
            <a:avLst>
              <a:gd name="adj" fmla="val 26582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7339ECD1-7F5B-4A90-B5D9-2727BE40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2671"/>
            <a:ext cx="11048695" cy="2171700"/>
          </a:xfrm>
          <a:prstGeom xmlns:a="http://schemas.openxmlformats.org/drawingml/2006/main" prst="roundRect">
            <a:avLst>
              <a:gd name="adj" fmla="val 2216"/>
            </a:avLst>
          </a:prstGeom>
          <a:solidFill xmlns:a="http://schemas.openxmlformats.org/drawingml/2006/main">
            <a:srgbClr val="273383">
              <a:alpha val="30000"/>
            </a:srgbClr>
          </a:solidFill>
          <a:ln xmlns:a="http://schemas.openxmlformats.org/drawingml/2006/main" w="12700">
            <a:solidFill>
              <a:srgbClr val="88E555">
                <a:alpha val="20000"/>
              </a:srgbClr>
            </a:solidFill>
            <a:prstDash val="solid"/>
          </a:ln>
          <a:effectLst xmlns:a="http://schemas.openxmlformats.org/drawingml/2006/main">
            <a:outerShdw blurRad="190500" dist="101600" dir="5400000" algn="bl" rotWithShape="0">
              <a:srgbClr val="000000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F18955BF-E416-422B-B4FC-1E1D128C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" y="1721815"/>
            <a:ext cx="1104595" cy="437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8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B5EB703F-D836-420E-8E20-11F39B97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325" y="1721815"/>
            <a:ext cx="2210105" cy="437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8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6353D78D-185A-4153-BFEF-583CDF40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858" y="1721815"/>
            <a:ext cx="4419295" cy="437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8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D54D3EAC-2766-4A63-8BBF-EAED67A4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838" y="1721815"/>
            <a:ext cx="3314700" cy="437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8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7E0207D9-63C6-45AF-B1FB-8BB7A333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" y="2604211"/>
            <a:ext cx="110459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ACB51B48-C401-4B11-BBE5-9E96FD64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325" y="2604211"/>
            <a:ext cx="221010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672522C8-1629-4C51-A81F-5DB36FB6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858" y="2604211"/>
            <a:ext cx="441929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D9763EAC-6967-48C5-8F5D-0F09B317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838" y="2604211"/>
            <a:ext cx="331470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313796E0-D3DB-4C66-B3A4-7373D13A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" y="2606954"/>
            <a:ext cx="11030407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B986F7A1-7340-45BF-A1F9-FFBD8726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" y="3055010"/>
            <a:ext cx="110459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5796F89A-D631-49A7-8AB4-090DF933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325" y="3055010"/>
            <a:ext cx="221010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A9FAE561-201E-4F26-A462-73794E77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858" y="3055010"/>
            <a:ext cx="441929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015A2A72-C1D9-4055-8BC9-70E8A59D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838" y="3055010"/>
            <a:ext cx="331470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45322D09-60E9-4F34-9226-42BB06D8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" y="3510382"/>
            <a:ext cx="110459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BFAC45B8-A1A2-4DD6-83D2-558A4740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325" y="3510382"/>
            <a:ext cx="221010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B4624A4C-5643-49C4-B487-EE6BBF0E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858" y="3510382"/>
            <a:ext cx="441929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F202C598-2755-4EFB-BF4A-E066BB92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838" y="3510382"/>
            <a:ext cx="331470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Shape 22">
            <a:extLst xmlns:a="http://schemas.openxmlformats.org/drawingml/2006/main">
              <a:ext uri="{FF2B5EF4-FFF2-40B4-BE49-F238E27FC236}">
                <a16:creationId xmlns:a16="http://schemas.microsoft.com/office/drawing/2014/main" id="{0F38D432-C3AA-454D-B78B-4655F9A2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" y="3517697"/>
            <a:ext cx="11030407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0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5b054765c42b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1500" y="4151376"/>
            <a:ext cx="133502" cy="133502"/>
          </a:xfrm>
          <a:prstGeom xmlns:a="http://schemas.openxmlformats.org/drawingml/2006/main" prst="rect">
            <a:avLst/>
          </a:prstGeom>
        </p:spPr>
      </p:pic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97DB5C64-AE93-4A6D-B086-FC434418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8" y="4120286"/>
            <a:ext cx="5574182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i="1">
                <a:solidFill>
                  <a:srgbClr val="AAAAAA"/>
                </a:solidFill>
                <a:latin typeface="Poppins"/>
                <a:ea typeface="Poppins"/>
                <a:cs typeface="Poppins"/>
              </a:rPr>
              <a:t>A team can have up to 4 members including the team leader. Add rows if necessary.</a:t>
            </a:r>
            <a:endParaRPr sz="1000" b="1"/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87C07F04-1C26-4243-8321-2484D05C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43654"/>
            <a:ext cx="11048695" cy="2029054"/>
          </a:xfrm>
          <a:prstGeom xmlns:a="http://schemas.openxmlformats.org/drawingml/2006/main" prst="roundRect">
            <a:avLst>
              <a:gd name="adj" fmla="val 2539"/>
            </a:avLst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12700">
            <a:solidFill>
              <a:srgbClr val="1E3A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12C0B6E6-3724-4767-A9EB-5BD63C0B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4" y="5048402"/>
            <a:ext cx="10649102" cy="437998"/>
          </a:xfrm>
          <a:prstGeom xmlns:a="http://schemas.openxmlformats.org/drawingml/2006/main" prst="roundRect">
            <a:avLst>
              <a:gd name="adj" fmla="val 27231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Shape 26">
            <a:extLst xmlns:a="http://schemas.openxmlformats.org/drawingml/2006/main">
              <a:ext uri="{FF2B5EF4-FFF2-40B4-BE49-F238E27FC236}">
                <a16:creationId xmlns:a16="http://schemas.microsoft.com/office/drawing/2014/main" id="{6E0A3272-E56B-45A4-AA9A-10BBFB38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4" y="5934456"/>
            <a:ext cx="5229454" cy="437998"/>
          </a:xfrm>
          <a:prstGeom xmlns:a="http://schemas.openxmlformats.org/drawingml/2006/main" prst="roundRect">
            <a:avLst>
              <a:gd name="adj" fmla="val 27231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Shape 27">
            <a:extLst xmlns:a="http://schemas.openxmlformats.org/drawingml/2006/main">
              <a:ext uri="{FF2B5EF4-FFF2-40B4-BE49-F238E27FC236}">
                <a16:creationId xmlns:a16="http://schemas.microsoft.com/office/drawing/2014/main" id="{D0B955E2-6B91-4391-9533-58F8AEC4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402" y="5934456"/>
            <a:ext cx="5229454" cy="437998"/>
          </a:xfrm>
          <a:prstGeom xmlns:a="http://schemas.openxmlformats.org/drawingml/2006/main" prst="roundRect">
            <a:avLst>
              <a:gd name="adj" fmla="val 27231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26701FFB-98E1-4151-95FF-64FD0283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" y="1086307"/>
            <a:ext cx="2053742" cy="381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Team Details — Draft</a:t>
            </a:r>
            <a:endParaRPr sz="21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28513F27-26A4-442C-9DF1-773225C6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895" y="1237183"/>
            <a:ext cx="110551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AEFF82"/>
                </a:solidFill>
                <a:latin typeface="Poppins"/>
                <a:ea typeface="Poppins"/>
                <a:cs typeface="Poppins"/>
              </a:rPr>
              <a:t>Team Name:</a:t>
            </a:r>
            <a:endParaRPr sz="12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D54D86E5-CECA-4CAA-903F-8CFC4751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4" y="1836115"/>
            <a:ext cx="598932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AEFF82"/>
                </a:solidFill>
                <a:latin typeface="Poppins"/>
                <a:ea typeface="Poppins"/>
                <a:cs typeface="Poppins"/>
              </a:rPr>
              <a:t>SR. NO</a:t>
            </a:r>
            <a:endParaRPr sz="1000"/>
          </a:p>
        </p:txBody>
      </p:sp>
      <p:sp>
        <p:nvSpPr>
          <p:cNvPr id="37" name="Text 31">
            <a:extLst xmlns:a="http://schemas.openxmlformats.org/drawingml/2006/main">
              <a:ext uri="{FF2B5EF4-FFF2-40B4-BE49-F238E27FC236}">
                <a16:creationId xmlns:a16="http://schemas.microsoft.com/office/drawing/2014/main" id="{26C9B68D-9A31-442B-BD6B-7DFC6FAF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1836115"/>
            <a:ext cx="465430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AEFF82"/>
                </a:solidFill>
                <a:latin typeface="Poppins"/>
                <a:ea typeface="Poppins"/>
                <a:cs typeface="Poppins"/>
              </a:rPr>
              <a:t>ROLE</a:t>
            </a:r>
            <a:endParaRPr sz="1000"/>
          </a:p>
        </p:txBody>
      </p:sp>
      <p:sp>
        <p:nvSpPr>
          <p:cNvPr id="38" name="Text 32">
            <a:extLst xmlns:a="http://schemas.openxmlformats.org/drawingml/2006/main">
              <a:ext uri="{FF2B5EF4-FFF2-40B4-BE49-F238E27FC236}">
                <a16:creationId xmlns:a16="http://schemas.microsoft.com/office/drawing/2014/main" id="{6718DB16-57F7-4B7C-9DAE-5F856F87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053" y="1836115"/>
            <a:ext cx="532181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AEFF82"/>
                </a:solidFill>
                <a:latin typeface="Poppins"/>
                <a:ea typeface="Poppins"/>
                <a:cs typeface="Poppins"/>
              </a:rPr>
              <a:t>NAME</a:t>
            </a:r>
            <a:endParaRPr sz="1000"/>
          </a:p>
        </p:txBody>
      </p:sp>
      <p:sp>
        <p:nvSpPr>
          <p:cNvPr id="39" name="Text 33">
            <a:extLst xmlns:a="http://schemas.openxmlformats.org/drawingml/2006/main">
              <a:ext uri="{FF2B5EF4-FFF2-40B4-BE49-F238E27FC236}">
                <a16:creationId xmlns:a16="http://schemas.microsoft.com/office/drawing/2014/main" id="{112495B0-F8E2-499C-9B03-B21F057D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2033" y="1836115"/>
            <a:ext cx="1313078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AEFF82"/>
                </a:solidFill>
                <a:latin typeface="Poppins"/>
                <a:ea typeface="Poppins"/>
                <a:cs typeface="Poppins"/>
              </a:rPr>
              <a:t>ACADEMIC YEAR</a:t>
            </a:r>
            <a:endParaRPr sz="1000"/>
          </a:p>
        </p:txBody>
      </p:sp>
      <p:sp>
        <p:nvSpPr>
          <p:cNvPr id="40" name="Text 34">
            <a:extLst xmlns:a="http://schemas.openxmlformats.org/drawingml/2006/main">
              <a:ext uri="{FF2B5EF4-FFF2-40B4-BE49-F238E27FC236}">
                <a16:creationId xmlns:a16="http://schemas.microsoft.com/office/drawing/2014/main" id="{A1A86A2A-DC8A-4F3E-B219-53802720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4" y="2270455"/>
            <a:ext cx="156362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E0E0E0"/>
                </a:solidFill>
                <a:latin typeface="Poppins"/>
                <a:ea typeface="Poppins"/>
                <a:cs typeface="Poppins"/>
              </a:rPr>
              <a:t>1</a:t>
            </a:r>
            <a:endParaRPr sz="1100"/>
          </a:p>
        </p:txBody>
      </p:sp>
      <p:sp>
        <p:nvSpPr>
          <p:cNvPr id="41" name="Text 35">
            <a:extLst xmlns:a="http://schemas.openxmlformats.org/drawingml/2006/main">
              <a:ext uri="{FF2B5EF4-FFF2-40B4-BE49-F238E27FC236}">
                <a16:creationId xmlns:a16="http://schemas.microsoft.com/office/drawing/2014/main" id="{0785F742-8400-461B-B7B1-130A1A21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270455"/>
            <a:ext cx="1070762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0E0E0"/>
                </a:solidFill>
                <a:latin typeface="Poppins"/>
                <a:ea typeface="Poppins"/>
                <a:cs typeface="Poppins"/>
              </a:rPr>
              <a:t>Team Leader</a:t>
            </a:r>
            <a:endParaRPr sz="1100"/>
          </a:p>
        </p:txBody>
      </p:sp>
      <p:sp>
        <p:nvSpPr>
          <p:cNvPr id="42" name="Text 36">
            <a:extLst xmlns:a="http://schemas.openxmlformats.org/drawingml/2006/main">
              <a:ext uri="{FF2B5EF4-FFF2-40B4-BE49-F238E27FC236}">
                <a16:creationId xmlns:a16="http://schemas.microsoft.com/office/drawing/2014/main" id="{C7D9A68C-A16C-4062-965A-5EAEB458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4" y="2725826"/>
            <a:ext cx="194767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E0E0E0"/>
                </a:solidFill>
                <a:latin typeface="Poppins"/>
                <a:ea typeface="Poppins"/>
                <a:cs typeface="Poppins"/>
              </a:rPr>
              <a:t>2</a:t>
            </a:r>
            <a:endParaRPr sz="1100"/>
          </a:p>
        </p:txBody>
      </p:sp>
      <p:sp>
        <p:nvSpPr>
          <p:cNvPr id="43" name="Text 37">
            <a:extLst xmlns:a="http://schemas.openxmlformats.org/drawingml/2006/main">
              <a:ext uri="{FF2B5EF4-FFF2-40B4-BE49-F238E27FC236}">
                <a16:creationId xmlns:a16="http://schemas.microsoft.com/office/drawing/2014/main" id="{7E2A4AC3-1427-4687-98D7-5842169C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725826"/>
            <a:ext cx="804672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E0E0E0"/>
                </a:solidFill>
                <a:latin typeface="Poppins"/>
                <a:ea typeface="Poppins"/>
                <a:cs typeface="Poppins"/>
              </a:rPr>
              <a:t>Member 1</a:t>
            </a:r>
            <a:endParaRPr sz="1100"/>
          </a:p>
        </p:txBody>
      </p:sp>
      <p:sp>
        <p:nvSpPr>
          <p:cNvPr id="44" name="Text 38">
            <a:extLst xmlns:a="http://schemas.openxmlformats.org/drawingml/2006/main">
              <a:ext uri="{FF2B5EF4-FFF2-40B4-BE49-F238E27FC236}">
                <a16:creationId xmlns:a16="http://schemas.microsoft.com/office/drawing/2014/main" id="{31693CED-8945-4E63-A9DA-982437B9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4" y="3181198"/>
            <a:ext cx="194767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E0E0E0"/>
                </a:solidFill>
                <a:latin typeface="Poppins"/>
                <a:ea typeface="Poppins"/>
                <a:cs typeface="Poppins"/>
              </a:rPr>
              <a:t>3</a:t>
            </a:r>
            <a:endParaRPr sz="1100"/>
          </a:p>
        </p:txBody>
      </p:sp>
      <p:sp>
        <p:nvSpPr>
          <p:cNvPr id="45" name="Text 39">
            <a:extLst xmlns:a="http://schemas.openxmlformats.org/drawingml/2006/main">
              <a:ext uri="{FF2B5EF4-FFF2-40B4-BE49-F238E27FC236}">
                <a16:creationId xmlns:a16="http://schemas.microsoft.com/office/drawing/2014/main" id="{B8A90A5D-98CA-460C-9974-381693B0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181198"/>
            <a:ext cx="842162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E0E0E0"/>
                </a:solidFill>
                <a:latin typeface="Poppins"/>
                <a:ea typeface="Poppins"/>
                <a:cs typeface="Poppins"/>
              </a:rPr>
              <a:t>Member 2</a:t>
            </a:r>
            <a:endParaRPr sz="1100"/>
          </a:p>
        </p:txBody>
      </p:sp>
      <p:sp>
        <p:nvSpPr>
          <p:cNvPr id="46" name="Text 40">
            <a:extLst xmlns:a="http://schemas.openxmlformats.org/drawingml/2006/main">
              <a:ext uri="{FF2B5EF4-FFF2-40B4-BE49-F238E27FC236}">
                <a16:creationId xmlns:a16="http://schemas.microsoft.com/office/drawing/2014/main" id="{458E1A7C-B35F-44D2-B794-20142350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4" y="3636569"/>
            <a:ext cx="203911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E0E0E0"/>
                </a:solidFill>
                <a:latin typeface="Poppins"/>
                <a:ea typeface="Poppins"/>
                <a:cs typeface="Poppins"/>
              </a:rPr>
              <a:t>4</a:t>
            </a:r>
            <a:endParaRPr sz="1100"/>
          </a:p>
        </p:txBody>
      </p:sp>
      <p:sp>
        <p:nvSpPr>
          <p:cNvPr id="47" name="Text 41">
            <a:extLst xmlns:a="http://schemas.openxmlformats.org/drawingml/2006/main">
              <a:ext uri="{FF2B5EF4-FFF2-40B4-BE49-F238E27FC236}">
                <a16:creationId xmlns:a16="http://schemas.microsoft.com/office/drawing/2014/main" id="{5E95EAA6-3829-4205-8AEE-BC2E9FD1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636569"/>
            <a:ext cx="842162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E0E0E0"/>
                </a:solidFill>
                <a:latin typeface="Poppins"/>
                <a:ea typeface="Poppins"/>
                <a:cs typeface="Poppins"/>
              </a:rPr>
              <a:t>Member 3</a:t>
            </a:r>
            <a:endParaRPr sz="1100"/>
          </a:p>
        </p:txBody>
      </p:sp>
      <p:pic>
        <p:nvPicPr>
          <p:cNvPr id="12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d931c0c944713"/>
          <a:srcRect xmlns:a="http://schemas.openxmlformats.org/drawingml/2006/main" l="-2994" t="0" r="-2994" b="0"/>
          <a:stretch xmlns:a="http://schemas.openxmlformats.org/drawingml/2006/main"/>
        </p:blipFill>
        <p:spPr>
          <a:xfrm xmlns:a="http://schemas.openxmlformats.org/drawingml/2006/main">
            <a:off x="771754" y="4772254"/>
            <a:ext cx="161849" cy="152705"/>
          </a:xfrm>
          <a:prstGeom xmlns:a="http://schemas.openxmlformats.org/drawingml/2006/main" prst="rect">
            <a:avLst/>
          </a:prstGeom>
        </p:spPr>
      </p:pic>
      <p:sp>
        <p:nvSpPr>
          <p:cNvPr id="49" name="Text 42">
            <a:extLst xmlns:a="http://schemas.openxmlformats.org/drawingml/2006/main">
              <a:ext uri="{FF2B5EF4-FFF2-40B4-BE49-F238E27FC236}">
                <a16:creationId xmlns:a16="http://schemas.microsoft.com/office/drawing/2014/main" id="{3AB70E1F-B6E7-407C-AB02-9228102C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8" y="4743907"/>
            <a:ext cx="134325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AEFF82"/>
                </a:solidFill>
                <a:latin typeface="Poppins"/>
                <a:ea typeface="Poppins"/>
                <a:cs typeface="Poppins"/>
              </a:rPr>
              <a:t>COLLEGE NAME</a:t>
            </a:r>
            <a:endParaRPr sz="1200"/>
          </a:p>
        </p:txBody>
      </p:sp>
      <p:pic>
        <p:nvPicPr>
          <p:cNvPr id="122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d93059dd44cf7"/>
          <a:srcRect xmlns:a="http://schemas.openxmlformats.org/drawingml/2006/main" l="-2994" t="0" r="-2994" b="0"/>
          <a:stretch xmlns:a="http://schemas.openxmlformats.org/drawingml/2006/main"/>
        </p:blipFill>
        <p:spPr>
          <a:xfrm xmlns:a="http://schemas.openxmlformats.org/drawingml/2006/main">
            <a:off x="771754" y="5658307"/>
            <a:ext cx="161849" cy="152705"/>
          </a:xfrm>
          <a:prstGeom xmlns:a="http://schemas.openxmlformats.org/drawingml/2006/main" prst="rect">
            <a:avLst/>
          </a:prstGeom>
        </p:spPr>
      </p:pic>
      <p:sp>
        <p:nvSpPr>
          <p:cNvPr id="51" name="Text 43">
            <a:extLst xmlns:a="http://schemas.openxmlformats.org/drawingml/2006/main">
              <a:ext uri="{FF2B5EF4-FFF2-40B4-BE49-F238E27FC236}">
                <a16:creationId xmlns:a16="http://schemas.microsoft.com/office/drawing/2014/main" id="{DC18860C-A594-4DEB-8FA5-0700DABF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8" y="5629046"/>
            <a:ext cx="2772461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AEFF82"/>
                </a:solidFill>
                <a:latin typeface="Poppins"/>
                <a:ea typeface="Poppins"/>
                <a:cs typeface="Poppins"/>
              </a:rPr>
              <a:t>TEAM LEADER CONTACT NUMBER</a:t>
            </a:r>
            <a:endParaRPr sz="1200"/>
          </a:p>
        </p:txBody>
      </p:sp>
      <p:pic>
        <p:nvPicPr>
          <p:cNvPr id="12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d5cf5740b74320"/>
          <a:srcRect xmlns:a="http://schemas.openxmlformats.org/drawingml/2006/main" l="-2994" t="0" r="-2994" b="0"/>
          <a:stretch xmlns:a="http://schemas.openxmlformats.org/drawingml/2006/main"/>
        </p:blipFill>
        <p:spPr>
          <a:xfrm xmlns:a="http://schemas.openxmlformats.org/drawingml/2006/main">
            <a:off x="6191402" y="5658307"/>
            <a:ext cx="161849" cy="152705"/>
          </a:xfrm>
          <a:prstGeom xmlns:a="http://schemas.openxmlformats.org/drawingml/2006/main" prst="rect">
            <a:avLst/>
          </a:prstGeom>
        </p:spPr>
      </p:pic>
      <p:sp>
        <p:nvSpPr>
          <p:cNvPr id="53" name="Text 44">
            <a:extLst xmlns:a="http://schemas.openxmlformats.org/drawingml/2006/main">
              <a:ext uri="{FF2B5EF4-FFF2-40B4-BE49-F238E27FC236}">
                <a16:creationId xmlns:a16="http://schemas.microsoft.com/office/drawing/2014/main" id="{C52E4359-7E2B-47D4-A46A-1C7E68DB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146" y="5629046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AEFF82"/>
                </a:solidFill>
                <a:latin typeface="Poppins"/>
                <a:ea typeface="Poppins"/>
                <a:cs typeface="Poppins"/>
              </a:rPr>
              <a:t>TEAM LEADER EMAIL ADDRESS</a:t>
            </a:r>
            <a:endParaRPr sz="1200"/>
          </a:p>
        </p:txBody>
      </p:sp>
      <p:sp>
        <p:nvSpPr>
          <p:cNvPr id="54" name="Text 45">
            <a:extLst xmlns:a="http://schemas.openxmlformats.org/drawingml/2006/main">
              <a:ext uri="{FF2B5EF4-FFF2-40B4-BE49-F238E27FC236}">
                <a16:creationId xmlns:a16="http://schemas.microsoft.com/office/drawing/2014/main" id="{02F36588-E635-43E8-84CC-5DC64F1B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254" y="1256386"/>
            <a:ext cx="1719986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FFFFFF">
                    <a:alpha val="70000"/>
                  </a:srgbClr>
                </a:solidFill>
                <a:latin typeface="Poppins"/>
                <a:ea typeface="Poppins"/>
                <a:cs typeface="Poppins"/>
              </a:rPr>
              <a:t>[Team Name]</a:t>
            </a:r>
            <a:endParaRPr sz="1000"/>
          </a:p>
        </p:txBody>
      </p:sp>
      <p:sp>
        <p:nvSpPr>
          <p:cNvPr id="55" name="Text 46">
            <a:extLst xmlns:a="http://schemas.openxmlformats.org/drawingml/2006/main">
              <a:ext uri="{FF2B5EF4-FFF2-40B4-BE49-F238E27FC236}">
                <a16:creationId xmlns:a16="http://schemas.microsoft.com/office/drawing/2014/main" id="{55EA2BFC-39BB-4E22-B578-B06F9ADF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053" y="2270455"/>
            <a:ext cx="1089965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i="1">
                <a:solidFill>
                  <a:srgbClr val="E0E0E0">
                    <a:alpha val="50000"/>
                  </a:srgbClr>
                </a:solidFill>
                <a:latin typeface="Poppins"/>
                <a:ea typeface="Poppins"/>
                <a:cs typeface="Poppins"/>
              </a:rPr>
              <a:t>[Team Lead]</a:t>
            </a:r>
            <a:endParaRPr sz="1100"/>
          </a:p>
        </p:txBody>
      </p:sp>
      <p:sp>
        <p:nvSpPr>
          <p:cNvPr id="56" name="Text 47">
            <a:extLst xmlns:a="http://schemas.openxmlformats.org/drawingml/2006/main">
              <a:ext uri="{FF2B5EF4-FFF2-40B4-BE49-F238E27FC236}">
                <a16:creationId xmlns:a16="http://schemas.microsoft.com/office/drawing/2014/main" id="{5077A8A3-F31C-4D53-9900-7657247C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2033" y="2270455"/>
            <a:ext cx="975665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i="1">
                <a:solidFill>
                  <a:srgbClr val="E0E0E0">
                    <a:alpha val="50000"/>
                  </a:srgbClr>
                </a:solidFill>
                <a:latin typeface="Poppins"/>
                <a:ea typeface="Poppins"/>
                <a:cs typeface="Poppins"/>
              </a:rPr>
              <a:t>[Year]</a:t>
            </a:r>
            <a:endParaRPr sz="1100"/>
          </a:p>
        </p:txBody>
      </p:sp>
      <p:sp>
        <p:nvSpPr>
          <p:cNvPr id="57" name="Text 48">
            <a:extLst xmlns:a="http://schemas.openxmlformats.org/drawingml/2006/main">
              <a:ext uri="{FF2B5EF4-FFF2-40B4-BE49-F238E27FC236}">
                <a16:creationId xmlns:a16="http://schemas.microsoft.com/office/drawing/2014/main" id="{CA301A84-8EBB-4376-A6E1-C33DA36F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053" y="2725826"/>
            <a:ext cx="1089965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i="1">
                <a:solidFill>
                  <a:srgbClr val="E0E0E0">
                    <a:alpha val="50000"/>
                  </a:srgbClr>
                </a:solidFill>
                <a:latin typeface="Poppins"/>
                <a:ea typeface="Poppins"/>
                <a:cs typeface="Poppins"/>
              </a:rPr>
              <a:t>[Member 1]</a:t>
            </a:r>
            <a:endParaRPr sz="1100"/>
          </a:p>
        </p:txBody>
      </p:sp>
      <p:sp>
        <p:nvSpPr>
          <p:cNvPr id="58" name="Text 49">
            <a:extLst xmlns:a="http://schemas.openxmlformats.org/drawingml/2006/main">
              <a:ext uri="{FF2B5EF4-FFF2-40B4-BE49-F238E27FC236}">
                <a16:creationId xmlns:a16="http://schemas.microsoft.com/office/drawing/2014/main" id="{B5D10CFA-6688-4361-9CB4-1C90EBAE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2033" y="2725826"/>
            <a:ext cx="975665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i="1">
                <a:solidFill>
                  <a:srgbClr val="E0E0E0">
                    <a:alpha val="50000"/>
                  </a:srgbClr>
                </a:solidFill>
                <a:latin typeface="Poppins"/>
                <a:ea typeface="Poppins"/>
                <a:cs typeface="Poppins"/>
              </a:rPr>
              <a:t>[Year]</a:t>
            </a:r>
            <a:endParaRPr sz="1100"/>
          </a:p>
        </p:txBody>
      </p:sp>
      <p:sp>
        <p:nvSpPr>
          <p:cNvPr id="59" name="Text 50">
            <a:extLst xmlns:a="http://schemas.openxmlformats.org/drawingml/2006/main">
              <a:ext uri="{FF2B5EF4-FFF2-40B4-BE49-F238E27FC236}">
                <a16:creationId xmlns:a16="http://schemas.microsoft.com/office/drawing/2014/main" id="{AFEB7AF6-386C-4A70-A495-1DEA77A2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053" y="3181198"/>
            <a:ext cx="1089965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i="1">
                <a:solidFill>
                  <a:srgbClr val="E0E0E0">
                    <a:alpha val="50000"/>
                  </a:srgbClr>
                </a:solidFill>
                <a:latin typeface="Poppins"/>
                <a:ea typeface="Poppins"/>
                <a:cs typeface="Poppins"/>
              </a:rPr>
              <a:t>[Member 2]</a:t>
            </a:r>
            <a:endParaRPr sz="1100"/>
          </a:p>
        </p:txBody>
      </p:sp>
      <p:sp>
        <p:nvSpPr>
          <p:cNvPr id="60" name="Text 51">
            <a:extLst xmlns:a="http://schemas.openxmlformats.org/drawingml/2006/main">
              <a:ext uri="{FF2B5EF4-FFF2-40B4-BE49-F238E27FC236}">
                <a16:creationId xmlns:a16="http://schemas.microsoft.com/office/drawing/2014/main" id="{825B2D74-B2DE-4573-ADC3-BBD1836E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2033" y="3181198"/>
            <a:ext cx="975665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i="1">
                <a:solidFill>
                  <a:srgbClr val="E0E0E0">
                    <a:alpha val="50000"/>
                  </a:srgbClr>
                </a:solidFill>
                <a:latin typeface="Poppins"/>
                <a:ea typeface="Poppins"/>
                <a:cs typeface="Poppins"/>
              </a:rPr>
              <a:t>[Year]</a:t>
            </a:r>
            <a:endParaRPr sz="1100"/>
          </a:p>
        </p:txBody>
      </p:sp>
      <p:sp>
        <p:nvSpPr>
          <p:cNvPr id="61" name="Text 52">
            <a:extLst xmlns:a="http://schemas.openxmlformats.org/drawingml/2006/main">
              <a:ext uri="{FF2B5EF4-FFF2-40B4-BE49-F238E27FC236}">
                <a16:creationId xmlns:a16="http://schemas.microsoft.com/office/drawing/2014/main" id="{3041AC64-BCBF-4A2C-B3C6-C3B2B33E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053" y="3636569"/>
            <a:ext cx="1089965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i="1">
                <a:solidFill>
                  <a:srgbClr val="E0E0E0">
                    <a:alpha val="50000"/>
                  </a:srgbClr>
                </a:solidFill>
                <a:latin typeface="Poppins"/>
                <a:ea typeface="Poppins"/>
                <a:cs typeface="Poppins"/>
              </a:rPr>
              <a:t>[Member 3]</a:t>
            </a:r>
            <a:endParaRPr sz="1100"/>
          </a:p>
        </p:txBody>
      </p:sp>
      <p:sp>
        <p:nvSpPr>
          <p:cNvPr id="62" name="Text 53">
            <a:extLst xmlns:a="http://schemas.openxmlformats.org/drawingml/2006/main">
              <a:ext uri="{FF2B5EF4-FFF2-40B4-BE49-F238E27FC236}">
                <a16:creationId xmlns:a16="http://schemas.microsoft.com/office/drawing/2014/main" id="{33C192C4-B54C-498C-A27B-2B3E85EA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2033" y="3636569"/>
            <a:ext cx="975665" cy="2002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i="1">
                <a:solidFill>
                  <a:srgbClr val="E0E0E0">
                    <a:alpha val="50000"/>
                  </a:srgbClr>
                </a:solidFill>
                <a:latin typeface="Poppins"/>
                <a:ea typeface="Poppins"/>
                <a:cs typeface="Poppins"/>
              </a:rPr>
              <a:t>[Year]</a:t>
            </a:r>
            <a:endParaRPr sz="1100"/>
          </a:p>
        </p:txBody>
      </p:sp>
      <p:sp>
        <p:nvSpPr>
          <p:cNvPr id="63" name="Text 54">
            <a:extLst xmlns:a="http://schemas.openxmlformats.org/drawingml/2006/main">
              <a:ext uri="{FF2B5EF4-FFF2-40B4-BE49-F238E27FC236}">
                <a16:creationId xmlns:a16="http://schemas.microsoft.com/office/drawing/2014/main" id="{B2B13094-B4CB-478B-98A9-58F5A676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5152644"/>
            <a:ext cx="2057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FFFFFF">
                    <a:alpha val="50000"/>
                  </a:srgbClr>
                </a:solidFill>
                <a:latin typeface="Poppins"/>
                <a:ea typeface="Poppins"/>
                <a:cs typeface="Poppins"/>
              </a:rPr>
              <a:t>[College Name]</a:t>
            </a:r>
            <a:endParaRPr sz="1200"/>
          </a:p>
        </p:txBody>
      </p:sp>
      <p:sp>
        <p:nvSpPr>
          <p:cNvPr id="64" name="Text 55">
            <a:extLst xmlns:a="http://schemas.openxmlformats.org/drawingml/2006/main">
              <a:ext uri="{FF2B5EF4-FFF2-40B4-BE49-F238E27FC236}">
                <a16:creationId xmlns:a16="http://schemas.microsoft.com/office/drawing/2014/main" id="{A4DEAE1D-F1BC-4719-AB7E-7CBB1F25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6038698"/>
            <a:ext cx="1534363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FFFFFF">
                    <a:alpha val="50000"/>
                  </a:srgbClr>
                </a:solidFill>
                <a:latin typeface="Poppins"/>
                <a:ea typeface="Poppins"/>
                <a:cs typeface="Poppins"/>
              </a:rPr>
              <a:t>[Contact Number]</a:t>
            </a:r>
            <a:endParaRPr sz="1200"/>
          </a:p>
        </p:txBody>
      </p:sp>
      <p:sp>
        <p:nvSpPr>
          <p:cNvPr id="65" name="Text 56">
            <a:extLst xmlns:a="http://schemas.openxmlformats.org/drawingml/2006/main">
              <a:ext uri="{FF2B5EF4-FFF2-40B4-BE49-F238E27FC236}">
                <a16:creationId xmlns:a16="http://schemas.microsoft.com/office/drawing/2014/main" id="{73F3EA00-9A8A-4A4F-97E7-8687E09C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4107" y="6038698"/>
            <a:ext cx="1886407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FFFFFF">
                    <a:alpha val="50000"/>
                  </a:srgbClr>
                </a:solidFill>
                <a:latin typeface="Poppins"/>
                <a:ea typeface="Poppins"/>
                <a:cs typeface="Poppins"/>
              </a:rPr>
              <a:t>[Email Address]</a:t>
            </a:r>
            <a:endParaRPr sz="1200"/>
          </a:p>
        </p:txBody>
      </p:sp>
      <p:sp>
        <p:nvSpPr>
          <p:cNvPr id="70" name="Shape 1">
            <a:extLst xmlns:a="http://schemas.openxmlformats.org/drawingml/2006/main">
              <a:ext uri="{FF2B5EF4-FFF2-40B4-BE49-F238E27FC236}">
                <a16:creationId xmlns:a16="http://schemas.microsoft.com/office/drawing/2014/main" id="{780937B3-EB04-4CBA-C636-AF115BC1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" y="138074"/>
            <a:ext cx="11048695" cy="857707"/>
          </a:xfrm>
          <a:prstGeom xmlns:a="http://schemas.openxmlformats.org/drawingml/2006/main" prst="roundRect">
            <a:avLst>
              <a:gd name="adj" fmla="val 9476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3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096cead0e24d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04957" y="273709"/>
            <a:ext cx="9163491" cy="5864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222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249E2F2-8B68-412D-9AA5-A752665C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90c2559864304">
            <a:alphaModFix amt="10000"/>
          </a:blip>
          <a:srcRect xmlns:a="http://schemas.openxmlformats.org/drawingml/2006/main" l="12327" t="0" r="12327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E756809-308D-4C29-B72E-12BBBEEC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195"/>
            <a:ext cx="75895" cy="4096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E5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5B91E5EB-CF51-4111-ACC2-47F5E8F5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5" y="1295705"/>
            <a:ext cx="5547665" cy="467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AI-Based Restoration for Semiconductor Inspection</a:t>
            </a:r>
            <a:endParaRPr sz="2600"/>
          </a:p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59B7DE33-DBCA-4A17-8ECD-5D2CFE20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1738"/>
            <a:ext cx="11048695" cy="4552798"/>
          </a:xfrm>
          <a:prstGeom xmlns:a="http://schemas.openxmlformats.org/drawingml/2006/main" prst="roundRect">
            <a:avLst>
              <a:gd name="adj" fmla="val 672"/>
            </a:avLst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9C5D7657-A49E-48A1-9F5C-0BBEC816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1738"/>
            <a:ext cx="190195" cy="190195"/>
          </a:xfrm>
          <a:prstGeom xmlns:a="http://schemas.openxmlformats.org/drawingml/2006/main" prst="roundRect">
            <a:avLst>
              <a:gd name="adj" fmla="val 192308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527AD45A-3439-4A13-A51F-81C3608A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02173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99840473-5BC0-460F-B2AD-DFBD6C87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E53D1C55-2581-4E26-89D3-20792EE4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71FDB4BD-E220-457B-82C4-C144676A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2412187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83">
              <a:alpha val="50000"/>
            </a:srgbClr>
          </a:solidFill>
          <a:ln xmlns:a="http://schemas.openxmlformats.org/drawingml/2006/main" w="25400">
            <a:solidFill>
              <a:srgbClr val="AEFF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5167b569e9461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33856" y="258318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A3FDF2C0-9855-4451-9CCE-B661479B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3193085"/>
            <a:ext cx="6277356" cy="314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AEFF82">
                    <a:alpha val="80000"/>
                  </a:srgbClr>
                </a:solidFill>
                <a:latin typeface="Poppins"/>
                <a:ea typeface="Poppins"/>
                <a:cs typeface="Poppins"/>
              </a:rPr>
              <a:t>KLA Problem Statement — AI-Based Restoration of Degraded Images</a:t>
            </a:r>
            <a:endParaRPr sz="1800"/>
          </a:p>
        </p:txBody>
      </p:sp>
      <p:sp>
        <p:nvSpPr>
          <p:cNvPr id="17" name="Shape 11">
            <a:extLst xmlns:a="http://schemas.openxmlformats.org/drawingml/2006/main">
              <a:ext uri="{FF2B5EF4-FFF2-40B4-BE49-F238E27FC236}">
                <a16:creationId xmlns:a16="http://schemas.microsoft.com/office/drawing/2014/main" id="{A18887EF-C5B5-4CFE-BE0E-B74C2566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3768242"/>
            <a:ext cx="10267798" cy="1276502"/>
          </a:xfrm>
          <a:prstGeom xmlns:a="http://schemas.openxmlformats.org/drawingml/2006/main" prst="roundRect">
            <a:avLst>
              <a:gd name="adj" fmla="val 4277"/>
            </a:avLst>
          </a:prstGeom>
          <a:solidFill xmlns:a="http://schemas.openxmlformats.org/drawingml/2006/main">
            <a:srgbClr val="1E3A8A">
              <a:alpha val="40000"/>
            </a:srgbClr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07F39AE3-A96F-4F76-8A78-9FB9E849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607" y="4006901"/>
            <a:ext cx="1690726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9CA3AF"/>
                </a:solidFill>
                <a:latin typeface="Poppins"/>
                <a:ea typeface="Poppins"/>
                <a:cs typeface="Poppins"/>
              </a:rPr>
              <a:t>DESCRIPTION / DETAILS</a:t>
            </a:r>
            <a:endParaRPr sz="10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AA4891F4-60E8-4A12-98F6-B7E12B0A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607" y="4283050"/>
            <a:ext cx="8968435" cy="50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i="1">
                <a:solidFill>
                  <a:srgbClr val="FFFFFF">
                    <a:alpha val="70000"/>
                  </a:srgbClr>
                </a:solidFill>
                <a:latin typeface="Poppins"/>
                <a:ea typeface="Poppins"/>
                <a:cs typeface="Poppins"/>
              </a:rPr>
              <a:t>Inspection inputs combine speckle and Gaussian noise with 2× resolution loss. Values may fall outside the clean-image range, while lost fine detail can hide defects. The system must restore grayscale images faithfully, generalize to unseen degradations, and run fast.</a:t>
            </a:r>
            <a:endParaRPr sz="1300"/>
          </a:p>
        </p:txBody>
      </p:sp>
      <p:pic>
        <p:nvPicPr>
          <p:cNvPr id="42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bd8d4fc9b4d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92164" y="228650"/>
            <a:ext cx="1607366" cy="783591"/>
          </a:xfrm>
          <a:prstGeom xmlns:a="http://schemas.openxmlformats.org/drawingml/2006/main" prst="rect">
            <a:avLst/>
          </a:prstGeom>
        </p:spPr>
      </p:pic>
      <p:sp>
        <p:nvSpPr>
          <p:cNvPr id="22" name="Shape 1">
            <a:extLst xmlns:a="http://schemas.openxmlformats.org/drawingml/2006/main">
              <a:ext uri="{FF2B5EF4-FFF2-40B4-BE49-F238E27FC236}">
                <a16:creationId xmlns:a16="http://schemas.microsoft.com/office/drawing/2014/main" id="{8B3789FB-4EC6-29BB-8AB4-B514BCE8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294"/>
            <a:ext cx="11048695" cy="857707"/>
          </a:xfrm>
          <a:prstGeom xmlns:a="http://schemas.openxmlformats.org/drawingml/2006/main" prst="roundRect">
            <a:avLst>
              <a:gd name="adj" fmla="val 9476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f7747a6be4b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33449" y="416814"/>
            <a:ext cx="9163491" cy="5864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0994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48FC675-122B-4EA6-91A9-88ECC4CE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723120175d4e99">
            <a:alphaModFix amt="10000"/>
          </a:blip>
          <a:srcRect xmlns:a="http://schemas.openxmlformats.org/drawingml/2006/main" l="12327" t="0" r="12327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FFBB977A-FF90-4EA5-AF1B-026594D2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207"/>
            <a:ext cx="11048695" cy="666598"/>
          </a:xfrm>
          <a:prstGeom xmlns:a="http://schemas.openxmlformats.org/drawingml/2006/main" prst="roundRect">
            <a:avLst>
              <a:gd name="adj" fmla="val 15677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6bf88b7da4ee7"/>
          <a:srcRect xmlns:a="http://schemas.openxmlformats.org/drawingml/2006/main" l="0" t="10" r="0" b="10"/>
          <a:stretch xmlns:a="http://schemas.openxmlformats.org/drawingml/2006/main"/>
        </p:blipFill>
        <p:spPr>
          <a:xfrm xmlns:a="http://schemas.openxmlformats.org/drawingml/2006/main">
            <a:off x="857707" y="381305"/>
            <a:ext cx="1266444" cy="476402"/>
          </a:xfrm>
          <a:prstGeom xmlns:a="http://schemas.openxmlformats.org/drawingml/2006/main" prst="rect">
            <a:avLst/>
          </a:prstGeom>
        </p:spPr>
      </p:pic>
      <p:pic>
        <p:nvPicPr>
          <p:cNvPr id="3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6aa5547ea433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58500" y="381305"/>
            <a:ext cx="476402" cy="476402"/>
          </a:xfrm>
          <a:prstGeom xmlns:a="http://schemas.openxmlformats.org/drawingml/2006/main" prst="rect">
            <a:avLst/>
          </a:prstGeom>
        </p:spPr>
      </p:pic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89578BBC-749C-453D-AE7A-D60FF005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195"/>
            <a:ext cx="75895" cy="4096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E5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32AC6208-07BC-428B-B300-55DC4DBD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" y="1295705"/>
            <a:ext cx="10682936" cy="467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Proposed Idea — Defect-Faithful Restoration</a:t>
            </a:r>
            <a:endParaRPr sz="2600">
              <a:latin typeface="Poppins"/>
              <a:ea typeface="Poppins"/>
              <a:cs typeface="Poppins"/>
            </a:endParaRPr>
          </a:p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A5E23AC0-1F41-4D92-A10E-EDAA773E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1738"/>
            <a:ext cx="11048695" cy="4552798"/>
          </a:xfrm>
          <a:prstGeom xmlns:a="http://schemas.openxmlformats.org/drawingml/2006/main" prst="roundRect">
            <a:avLst>
              <a:gd name="adj" fmla="val 672"/>
            </a:avLst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6950D2D4-2BFD-4A0A-87A3-5E82E649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1738"/>
            <a:ext cx="190195" cy="190195"/>
          </a:xfrm>
          <a:prstGeom xmlns:a="http://schemas.openxmlformats.org/drawingml/2006/main" prst="roundRect">
            <a:avLst>
              <a:gd name="adj" fmla="val 192308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D45D46C1-A59B-4518-AEB4-D0F5413C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02173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05034B2B-3A17-4CC6-8AC6-0DAC922A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F84F654B-4732-41E5-956E-B2A27B31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5DE42E52-4138-4F28-8552-CE3B77E1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2412187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83">
              <a:alpha val="50000"/>
            </a:srgbClr>
          </a:solidFill>
          <a:ln xmlns:a="http://schemas.openxmlformats.org/drawingml/2006/main" w="25400">
            <a:solidFill>
              <a:srgbClr val="AEFF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abe07555c49a4"/>
          <a:srcRect xmlns:a="http://schemas.openxmlformats.org/drawingml/2006/main" l="-133" t="0" r="-133" b="0"/>
          <a:stretch xmlns:a="http://schemas.openxmlformats.org/drawingml/2006/main"/>
        </p:blipFill>
        <p:spPr>
          <a:xfrm xmlns:a="http://schemas.openxmlformats.org/drawingml/2006/main">
            <a:off x="1162202" y="2583180"/>
            <a:ext cx="171907" cy="22860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33A88382-DA6E-4A89-9043-62BD65B0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3183941"/>
            <a:ext cx="9813341" cy="6291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AEFF82">
                    <a:alpha val="90000"/>
                  </a:srgbClr>
                </a:solidFill>
                <a:latin typeface="Poppins"/>
                <a:ea typeface="Poppins"/>
                <a:cs typeface="Poppins"/>
              </a:rPr>
              <a:t>Provide a brief summary of your idea, including the key concept and approach. Provide a brief overview of your solution and how it addresses the problem statement.</a:t>
            </a:r>
            <a:endParaRPr sz="1600"/>
          </a:p>
        </p:txBody>
      </p:sp>
      <p:sp>
        <p:nvSpPr>
          <p:cNvPr id="17" name="Shape 11">
            <a:extLst xmlns:a="http://schemas.openxmlformats.org/drawingml/2006/main">
              <a:ext uri="{FF2B5EF4-FFF2-40B4-BE49-F238E27FC236}">
                <a16:creationId xmlns:a16="http://schemas.microsoft.com/office/drawing/2014/main" id="{EDF607A7-0DA5-4FBA-BD00-ACD1F99E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4060850"/>
            <a:ext cx="10267798" cy="895198"/>
          </a:xfrm>
          <a:prstGeom xmlns:a="http://schemas.openxmlformats.org/drawingml/2006/main" prst="roundRect">
            <a:avLst>
              <a:gd name="adj" fmla="val 8693"/>
            </a:avLst>
          </a:prstGeom>
          <a:solidFill xmlns:a="http://schemas.openxmlformats.org/drawingml/2006/main">
            <a:srgbClr val="1E3A8A">
              <a:alpha val="40000"/>
            </a:srgbClr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4DEEF8B7-3859-4861-841C-11252E71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02" y="4261104"/>
            <a:ext cx="1996135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9CA3AF"/>
                </a:solidFill>
                <a:latin typeface="Poppins"/>
                <a:ea typeface="Poppins"/>
                <a:cs typeface="Poppins"/>
              </a:rPr>
              <a:t>KEY CONCEPT &amp; APPROACH</a:t>
            </a:r>
            <a:endParaRPr sz="10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6EA52AC6-A1D7-4544-999A-3BBD8525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02" y="4528109"/>
            <a:ext cx="767730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i="1">
                <a:solidFill>
                  <a:srgbClr val="FFFFFF">
                    <a:alpha val="70000"/>
                  </a:srgbClr>
                </a:solidFill>
                <a:latin typeface="Poppins"/>
                <a:ea typeface="Poppins"/>
                <a:cs typeface="Poppins"/>
              </a:rPr>
              <a:t>A compact grayscale residual network learns denoising and 2× super-resolution together. Median/MAD conditioning keeps signal scale stable when speckle drives input values beyond the target range.</a:t>
            </a:r>
            <a:endParaRPr sz="120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81E62D79-A956-4473-A36F-F9F25A90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5108753"/>
            <a:ext cx="10267798" cy="895198"/>
          </a:xfrm>
          <a:prstGeom xmlns:a="http://schemas.openxmlformats.org/drawingml/2006/main" prst="roundRect">
            <a:avLst>
              <a:gd name="adj" fmla="val 8693"/>
            </a:avLst>
          </a:prstGeom>
          <a:solidFill xmlns:a="http://schemas.openxmlformats.org/drawingml/2006/main">
            <a:srgbClr val="1E3A8A">
              <a:alpha val="40000"/>
            </a:srgbClr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7657A00B-E3CC-4A1D-8387-B18C5276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02" y="5309006"/>
            <a:ext cx="1548079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9CA3AF"/>
                </a:solidFill>
                <a:latin typeface="Poppins"/>
                <a:ea typeface="Poppins"/>
                <a:cs typeface="Poppins"/>
              </a:rPr>
              <a:t>SOLUTION OVERVIEW</a:t>
            </a:r>
            <a:endParaRPr sz="100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79AF58FE-71B0-4142-9972-5503B879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02" y="5575097"/>
            <a:ext cx="8458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i="1">
                <a:solidFill>
                  <a:srgbClr val="FFFFFF">
                    <a:alpha val="70000"/>
                  </a:srgbClr>
                </a:solidFill>
                <a:latin typeface="Poppins"/>
                <a:ea typeface="Poppins"/>
                <a:cs typeface="Poppins"/>
              </a:rPr>
              <a:t>PixelShuffle reconstructs 2× detail over a bicubic base; residual blocks suppress noise while protecting texture. Training mixes paired images with controlled blur, downsampling, speckle, and Gaussian degradations.</a:t>
            </a:r>
            <a:endParaRPr sz="1200"/>
          </a:p>
        </p:txBody>
      </p:sp>
      <p:pic>
        <p:nvPicPr>
          <p:cNvPr id="53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efcade120642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92164" y="228650"/>
            <a:ext cx="1607366" cy="783591"/>
          </a:xfrm>
          <a:prstGeom xmlns:a="http://schemas.openxmlformats.org/drawingml/2006/main" prst="rect">
            <a:avLst/>
          </a:prstGeom>
        </p:spPr>
      </p:pic>
      <p:sp>
        <p:nvSpPr>
          <p:cNvPr id="25" name="Shape 1">
            <a:extLst xmlns:a="http://schemas.openxmlformats.org/drawingml/2006/main">
              <a:ext uri="{FF2B5EF4-FFF2-40B4-BE49-F238E27FC236}">
                <a16:creationId xmlns:a16="http://schemas.microsoft.com/office/drawing/2014/main" id="{82B7216B-04F1-E2CC-935F-9AA2CE5B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602"/>
            <a:ext cx="11048695" cy="857707"/>
          </a:xfrm>
          <a:prstGeom xmlns:a="http://schemas.openxmlformats.org/drawingml/2006/main" prst="roundRect">
            <a:avLst>
              <a:gd name="adj" fmla="val 9476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5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2fc34085245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01375" y="329389"/>
            <a:ext cx="9163491" cy="5864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8453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C62D778-6C4A-4D72-9325-EFB7EFAF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57d12cffa744a3">
            <a:alphaModFix amt="10000"/>
          </a:blip>
          <a:srcRect xmlns:a="http://schemas.openxmlformats.org/drawingml/2006/main" l="12327" t="0" r="12327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966FD10-54D8-4E46-AEE6-039C3F3C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207"/>
            <a:ext cx="11048695" cy="666598"/>
          </a:xfrm>
          <a:prstGeom xmlns:a="http://schemas.openxmlformats.org/drawingml/2006/main" prst="roundRect">
            <a:avLst>
              <a:gd name="adj" fmla="val 15677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7476830e6c4d72"/>
          <a:srcRect xmlns:a="http://schemas.openxmlformats.org/drawingml/2006/main" l="0" t="10" r="0" b="10"/>
          <a:stretch xmlns:a="http://schemas.openxmlformats.org/drawingml/2006/main"/>
        </p:blipFill>
        <p:spPr>
          <a:xfrm xmlns:a="http://schemas.openxmlformats.org/drawingml/2006/main">
            <a:off x="857707" y="381305"/>
            <a:ext cx="1266444" cy="476402"/>
          </a:xfrm>
          <a:prstGeom xmlns:a="http://schemas.openxmlformats.org/drawingml/2006/main" prst="rect">
            <a:avLst/>
          </a:prstGeom>
        </p:spPr>
      </p:pic>
      <p:pic>
        <p:nvPicPr>
          <p:cNvPr id="3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38cb1d269b457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58500" y="381305"/>
            <a:ext cx="476402" cy="476402"/>
          </a:xfrm>
          <a:prstGeom xmlns:a="http://schemas.openxmlformats.org/drawingml/2006/main" prst="rect">
            <a:avLst/>
          </a:prstGeom>
        </p:spPr>
      </p:pic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BADFEADF-4E8E-4B2A-BAE7-5C979A96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195"/>
            <a:ext cx="75895" cy="4096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E5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7BC9815D-EF09-4EAB-9CC4-CD3F4642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5" y="1295705"/>
            <a:ext cx="10296144" cy="467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Architecture &amp; Training Methodology</a:t>
            </a:r>
            <a:endParaRPr sz="2600"/>
          </a:p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6FD686B7-3CA0-4CBE-8314-4E362372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1738"/>
            <a:ext cx="11048695" cy="4552798"/>
          </a:xfrm>
          <a:prstGeom xmlns:a="http://schemas.openxmlformats.org/drawingml/2006/main" prst="roundRect">
            <a:avLst>
              <a:gd name="adj" fmla="val 672"/>
            </a:avLst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F0E48032-621A-4C9C-B3F1-84D095D6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1738"/>
            <a:ext cx="190195" cy="190195"/>
          </a:xfrm>
          <a:prstGeom xmlns:a="http://schemas.openxmlformats.org/drawingml/2006/main" prst="roundRect">
            <a:avLst>
              <a:gd name="adj" fmla="val 192308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508AE703-D372-4C84-8453-C2238CBA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02173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BEC79129-0D70-49DB-9BB6-C58DCF0C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FD7B9B92-2409-4C7F-95BD-ABB34F24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EF218C69-1F80-4417-874F-E2BA48A6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2412187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83">
              <a:alpha val="50000"/>
            </a:srgbClr>
          </a:solidFill>
          <a:ln xmlns:a="http://schemas.openxmlformats.org/drawingml/2006/main" w="25400">
            <a:solidFill>
              <a:srgbClr val="AEFF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5bff060ce14bd8"/>
          <a:srcRect xmlns:a="http://schemas.openxmlformats.org/drawingml/2006/main" l="-80" t="0" r="-80" b="0"/>
          <a:stretch xmlns:a="http://schemas.openxmlformats.org/drawingml/2006/main"/>
        </p:blipFill>
        <p:spPr>
          <a:xfrm xmlns:a="http://schemas.openxmlformats.org/drawingml/2006/main">
            <a:off x="1104595" y="2583180"/>
            <a:ext cx="286207" cy="22860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7D13C7BD-F22F-4D99-85AE-A1787083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3193085"/>
            <a:ext cx="101727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AEFF82">
                    <a:alpha val="80000"/>
                  </a:srgbClr>
                </a:solidFill>
                <a:latin typeface="Poppins"/>
                <a:ea typeface="Poppins"/>
                <a:cs typeface="Poppins"/>
              </a:rPr>
              <a:t>Describe your idea in detail. Include the methodology, technologies involved, and how it addresses the chosen problem statement.</a:t>
            </a:r>
            <a:endParaRPr sz="1800"/>
          </a:p>
        </p:txBody>
      </p:sp>
      <p:sp>
        <p:nvSpPr>
          <p:cNvPr id="17" name="Shape 11">
            <a:extLst xmlns:a="http://schemas.openxmlformats.org/drawingml/2006/main">
              <a:ext uri="{FF2B5EF4-FFF2-40B4-BE49-F238E27FC236}">
                <a16:creationId xmlns:a16="http://schemas.microsoft.com/office/drawing/2014/main" id="{58B2E073-94FE-4A55-80F1-4E90FAF2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4134002"/>
            <a:ext cx="10267798" cy="1276502"/>
          </a:xfrm>
          <a:prstGeom xmlns:a="http://schemas.openxmlformats.org/drawingml/2006/main" prst="roundRect">
            <a:avLst>
              <a:gd name="adj" fmla="val 4277"/>
            </a:avLst>
          </a:prstGeom>
          <a:solidFill xmlns:a="http://schemas.openxmlformats.org/drawingml/2006/main">
            <a:srgbClr val="1E3A8A">
              <a:alpha val="40000"/>
            </a:srgbClr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8E2F0C4B-C98B-48A1-A365-7D4E2C5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607" y="4372661"/>
            <a:ext cx="1367028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9CA3AF"/>
                </a:solidFill>
                <a:latin typeface="Poppins"/>
                <a:ea typeface="Poppins"/>
                <a:cs typeface="Poppins"/>
              </a:rPr>
              <a:t>SOLUTION DETAILS</a:t>
            </a:r>
            <a:endParaRPr sz="10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05C1E947-BFDE-4BB1-8321-895DE115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607" y="4648810"/>
            <a:ext cx="8996782" cy="50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i="1">
                <a:solidFill>
                  <a:srgbClr val="FFFFFF">
                    <a:alpha val="70000"/>
                  </a:srgbClr>
                </a:solidFill>
                <a:latin typeface="Poppins"/>
                <a:ea typeface="Poppins"/>
                <a:cs typeface="Poppins"/>
              </a:rPr>
              <a:t>Input → robust normalize → residual feature blocks → PixelShuffle ×2 → residual addition to bicubic base → restore original scale. Training uses Charbonnier + 0.10 Sobel-gradient loss, AdamW/cosine scheduling, and synthetic degradation probability 0.35. The selected checkpoint was trained on 3,200 paired images and validated on a deterministic 480-image holdout.</a:t>
            </a:r>
            <a:endParaRPr sz="1300"/>
          </a:p>
        </p:txBody>
      </p:sp>
      <p:pic>
        <p:nvPicPr>
          <p:cNvPr id="47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acf3c14ea04b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92164" y="227710"/>
            <a:ext cx="1607366" cy="783591"/>
          </a:xfrm>
          <a:prstGeom xmlns:a="http://schemas.openxmlformats.org/drawingml/2006/main" prst="rect">
            <a:avLst/>
          </a:prstGeom>
        </p:spPr>
      </p:pic>
      <p:sp>
        <p:nvSpPr>
          <p:cNvPr id="22" name="Shape 1">
            <a:extLst xmlns:a="http://schemas.openxmlformats.org/drawingml/2006/main">
              <a:ext uri="{FF2B5EF4-FFF2-40B4-BE49-F238E27FC236}">
                <a16:creationId xmlns:a16="http://schemas.microsoft.com/office/drawing/2014/main" id="{50164B49-38DE-6195-0A8B-DC6EC6DA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799"/>
            <a:ext cx="11048695" cy="857707"/>
          </a:xfrm>
          <a:prstGeom xmlns:a="http://schemas.openxmlformats.org/drawingml/2006/main" prst="roundRect">
            <a:avLst>
              <a:gd name="adj" fmla="val 9476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9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09607814142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66553" y="276669"/>
            <a:ext cx="9163491" cy="5864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1384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8CCC3C7-53B0-42C0-8269-B877C695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d61a9c02f94740">
            <a:alphaModFix amt="10000"/>
          </a:blip>
          <a:srcRect xmlns:a="http://schemas.openxmlformats.org/drawingml/2006/main" l="12327" t="0" r="12327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5D7B46E2-A000-4DCB-8988-8645956B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207"/>
            <a:ext cx="11048695" cy="666598"/>
          </a:xfrm>
          <a:prstGeom xmlns:a="http://schemas.openxmlformats.org/drawingml/2006/main" prst="roundRect">
            <a:avLst>
              <a:gd name="adj" fmla="val 15677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3616be132a49dd"/>
          <a:srcRect xmlns:a="http://schemas.openxmlformats.org/drawingml/2006/main" l="0" t="10" r="0" b="10"/>
          <a:stretch xmlns:a="http://schemas.openxmlformats.org/drawingml/2006/main"/>
        </p:blipFill>
        <p:spPr>
          <a:xfrm xmlns:a="http://schemas.openxmlformats.org/drawingml/2006/main">
            <a:off x="857707" y="381305"/>
            <a:ext cx="1266444" cy="476402"/>
          </a:xfrm>
          <a:prstGeom xmlns:a="http://schemas.openxmlformats.org/drawingml/2006/main" prst="rect">
            <a:avLst/>
          </a:prstGeom>
        </p:spPr>
      </p:pic>
      <p:pic>
        <p:nvPicPr>
          <p:cNvPr id="3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65b25109041e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58500" y="381305"/>
            <a:ext cx="476402" cy="476402"/>
          </a:xfrm>
          <a:prstGeom xmlns:a="http://schemas.openxmlformats.org/drawingml/2006/main" prst="rect">
            <a:avLst/>
          </a:prstGeom>
        </p:spPr>
      </p:pic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3FAD26D-F39F-4104-8229-DB5828B8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195"/>
            <a:ext cx="75895" cy="4096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E5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62E67FA2-229F-4143-90A5-84CDA6E2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5" y="1295705"/>
            <a:ext cx="4986223" cy="467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Innovation &amp; Differentiation</a:t>
            </a:r>
            <a:endParaRPr sz="2600"/>
          </a:p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30E93253-9C62-4811-A8C0-708BA2FC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1738"/>
            <a:ext cx="11048695" cy="4552798"/>
          </a:xfrm>
          <a:prstGeom xmlns:a="http://schemas.openxmlformats.org/drawingml/2006/main" prst="roundRect">
            <a:avLst>
              <a:gd name="adj" fmla="val 672"/>
            </a:avLst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80D3122-F8BF-425B-BB08-07CD1838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1738"/>
            <a:ext cx="190195" cy="190195"/>
          </a:xfrm>
          <a:prstGeom xmlns:a="http://schemas.openxmlformats.org/drawingml/2006/main" prst="roundRect">
            <a:avLst>
              <a:gd name="adj" fmla="val 192308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63B5D8D4-648F-4E11-ACA9-1A41C203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02173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ED20800F-FEDA-42DD-8C35-28F13EAD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4A37F466-53F2-4E88-A768-27B381BC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7208B99F-E043-42A6-AB9C-20096531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2412187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83">
              <a:alpha val="50000"/>
            </a:srgbClr>
          </a:solidFill>
          <a:ln xmlns:a="http://schemas.openxmlformats.org/drawingml/2006/main" w="25400">
            <a:solidFill>
              <a:srgbClr val="AEFF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9ac02bcda4295"/>
          <a:srcRect xmlns:a="http://schemas.openxmlformats.org/drawingml/2006/main" l="-133" t="0" r="-133" b="0"/>
          <a:stretch xmlns:a="http://schemas.openxmlformats.org/drawingml/2006/main"/>
        </p:blipFill>
        <p:spPr>
          <a:xfrm xmlns:a="http://schemas.openxmlformats.org/drawingml/2006/main">
            <a:off x="1162202" y="2583180"/>
            <a:ext cx="171907" cy="22860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4AC17950-BC6C-49BC-992D-0E242D68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3193085"/>
            <a:ext cx="9801454" cy="314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AEFF82">
                    <a:alpha val="80000"/>
                  </a:srgbClr>
                </a:solidFill>
                <a:latin typeface="Poppins"/>
                <a:ea typeface="Poppins"/>
                <a:cs typeface="Poppins"/>
              </a:rPr>
              <a:t>Highlight what makes your idea unique or innovative compared to existing solutions.</a:t>
            </a:r>
            <a:endParaRPr sz="1800"/>
          </a:p>
        </p:txBody>
      </p:sp>
      <p:sp>
        <p:nvSpPr>
          <p:cNvPr id="17" name="Shape 11">
            <a:extLst xmlns:a="http://schemas.openxmlformats.org/drawingml/2006/main">
              <a:ext uri="{FF2B5EF4-FFF2-40B4-BE49-F238E27FC236}">
                <a16:creationId xmlns:a16="http://schemas.microsoft.com/office/drawing/2014/main" id="{57D5A7C5-18CF-45CE-A0C0-C8040955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3845052"/>
            <a:ext cx="5020056" cy="1429207"/>
          </a:xfrm>
          <a:prstGeom xmlns:a="http://schemas.openxmlformats.org/drawingml/2006/main" prst="roundRect">
            <a:avLst>
              <a:gd name="adj" fmla="val 3412"/>
            </a:avLst>
          </a:prstGeom>
          <a:solidFill xmlns:a="http://schemas.openxmlformats.org/drawingml/2006/main">
            <a:srgbClr val="1E3A8A">
              <a:alpha val="40000"/>
            </a:srgbClr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60370153-E514-4B3B-87E8-9C5738C4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607" y="4082796"/>
            <a:ext cx="1271930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9CA3AF"/>
                </a:solidFill>
                <a:latin typeface="Poppins"/>
                <a:ea typeface="Poppins"/>
                <a:cs typeface="Poppins"/>
              </a:rPr>
              <a:t>KEY INNOVATION</a:t>
            </a:r>
            <a:endParaRPr sz="10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6255F81E-C64D-4CD2-B8AA-E553A643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607" y="4349801"/>
            <a:ext cx="4429354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i="1">
                <a:solidFill>
                  <a:srgbClr val="FFFFFF">
                    <a:alpha val="70000"/>
                  </a:srgbClr>
                </a:solidFill>
                <a:latin typeface="Poppins"/>
                <a:ea typeface="Poppins"/>
                <a:cs typeface="Poppins"/>
              </a:rPr>
              <a:t>Defect-faithful restoration: no adversarial/GAN loss, reducing the risk of invented inspection features. Robust, un-clipped intensity normalization is designed for out-of-range speckle.</a:t>
            </a:r>
            <a:endParaRPr sz="120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2A96FC95-12DA-4F37-9FCD-692D225B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605" y="3845052"/>
            <a:ext cx="5020056" cy="1429207"/>
          </a:xfrm>
          <a:prstGeom xmlns:a="http://schemas.openxmlformats.org/drawingml/2006/main" prst="roundRect">
            <a:avLst>
              <a:gd name="adj" fmla="val 3412"/>
            </a:avLst>
          </a:prstGeom>
          <a:solidFill xmlns:a="http://schemas.openxmlformats.org/drawingml/2006/main">
            <a:srgbClr val="1E3A8A">
              <a:alpha val="40000"/>
            </a:srgbClr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D86B13E8-42AF-4A80-B298-2EA9C33F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349" y="4082796"/>
            <a:ext cx="1901038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9CA3AF"/>
                </a:solidFill>
                <a:latin typeface="Poppins"/>
                <a:ea typeface="Poppins"/>
                <a:cs typeface="Poppins"/>
              </a:rPr>
              <a:t>COMPETITIVE ADVANTAGE</a:t>
            </a:r>
            <a:endParaRPr sz="100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57F21766-5990-428C-90A7-A46275EF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349" y="4349801"/>
            <a:ext cx="4239158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i="1">
                <a:solidFill>
                  <a:srgbClr val="FFFFFF">
                    <a:alpha val="70000"/>
                  </a:srgbClr>
                </a:solidFill>
                <a:latin typeface="Poppins"/>
                <a:ea typeface="Poppins"/>
                <a:cs typeface="Poppins"/>
              </a:rPr>
              <a:t>One compact 1-channel model performs denoising and 2× upscaling jointly. The evaluator loads weights automatically and accepts input/output directories; CPU inference measured 18.16 ms/image.</a:t>
            </a:r>
            <a:endParaRPr sz="1200"/>
          </a:p>
        </p:txBody>
      </p:sp>
      <p:pic>
        <p:nvPicPr>
          <p:cNvPr id="53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41df998481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8322" y="228650"/>
            <a:ext cx="1607366" cy="783591"/>
          </a:xfrm>
          <a:prstGeom xmlns:a="http://schemas.openxmlformats.org/drawingml/2006/main" prst="rect">
            <a:avLst/>
          </a:prstGeom>
        </p:spPr>
      </p:pic>
      <p:sp>
        <p:nvSpPr>
          <p:cNvPr id="25" name="Shape 1">
            <a:extLst xmlns:a="http://schemas.openxmlformats.org/drawingml/2006/main">
              <a:ext uri="{FF2B5EF4-FFF2-40B4-BE49-F238E27FC236}">
                <a16:creationId xmlns:a16="http://schemas.microsoft.com/office/drawing/2014/main" id="{BB3A3471-21A6-8A80-8399-32E98C63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8065"/>
            <a:ext cx="11048695" cy="857707"/>
          </a:xfrm>
          <a:prstGeom xmlns:a="http://schemas.openxmlformats.org/drawingml/2006/main" prst="roundRect">
            <a:avLst>
              <a:gd name="adj" fmla="val 9476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5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625b4c8204a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90929" y="393700"/>
            <a:ext cx="9163491" cy="5864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97044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27D352F-9363-49E7-9651-FD0A49F1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e4a7421524b1b">
            <a:alphaModFix amt="10000"/>
          </a:blip>
          <a:srcRect xmlns:a="http://schemas.openxmlformats.org/drawingml/2006/main" l="12327" t="0" r="12327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9AA68846-0649-432B-BD61-39D99B53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207"/>
            <a:ext cx="11048695" cy="666598"/>
          </a:xfrm>
          <a:prstGeom xmlns:a="http://schemas.openxmlformats.org/drawingml/2006/main" prst="roundRect">
            <a:avLst>
              <a:gd name="adj" fmla="val 15677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f9f669213442c"/>
          <a:srcRect xmlns:a="http://schemas.openxmlformats.org/drawingml/2006/main" l="0" t="10" r="0" b="10"/>
          <a:stretch xmlns:a="http://schemas.openxmlformats.org/drawingml/2006/main"/>
        </p:blipFill>
        <p:spPr>
          <a:xfrm xmlns:a="http://schemas.openxmlformats.org/drawingml/2006/main">
            <a:off x="857707" y="381305"/>
            <a:ext cx="1266444" cy="476402"/>
          </a:xfrm>
          <a:prstGeom xmlns:a="http://schemas.openxmlformats.org/drawingml/2006/main" prst="rect">
            <a:avLst/>
          </a:prstGeom>
        </p:spPr>
      </p:pic>
      <p:pic>
        <p:nvPicPr>
          <p:cNvPr id="4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c22e5ee433441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58500" y="381305"/>
            <a:ext cx="476402" cy="476402"/>
          </a:xfrm>
          <a:prstGeom xmlns:a="http://schemas.openxmlformats.org/drawingml/2006/main" prst="rect">
            <a:avLst/>
          </a:prstGeom>
        </p:spPr>
      </p:pic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09B9C34F-B639-4DA1-965E-30DA9C77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195"/>
            <a:ext cx="75895" cy="4096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E5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1CB8563F-3E55-4FDE-AC4E-A4727F15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5" y="1295705"/>
            <a:ext cx="3728923" cy="467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Evidence &amp; Expected Inspection Impact</a:t>
            </a:r>
            <a:endParaRPr sz="2600"/>
          </a:p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DD93CDC7-741D-467C-9024-0C442F95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1738"/>
            <a:ext cx="11048695" cy="4552798"/>
          </a:xfrm>
          <a:prstGeom xmlns:a="http://schemas.openxmlformats.org/drawingml/2006/main" prst="roundRect">
            <a:avLst>
              <a:gd name="adj" fmla="val 672"/>
            </a:avLst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E3557D5E-6518-493C-ADD3-6C9C3DEA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1738"/>
            <a:ext cx="190195" cy="190195"/>
          </a:xfrm>
          <a:prstGeom xmlns:a="http://schemas.openxmlformats.org/drawingml/2006/main" prst="roundRect">
            <a:avLst>
              <a:gd name="adj" fmla="val 192308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B36A6D65-2617-4B98-835B-B7CB0080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02173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2982ADA7-A77E-4C56-8F71-3980FBC3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76FF28C6-24E6-43E7-985E-ACA850AF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831DA6FA-79FE-49E8-A1AD-7AAF81DB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2412187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83">
              <a:alpha val="50000"/>
            </a:srgbClr>
          </a:solidFill>
          <a:ln xmlns:a="http://schemas.openxmlformats.org/drawingml/2006/main" w="25400">
            <a:solidFill>
              <a:srgbClr val="AEFF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70e2e0cdf4bd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33856" y="258318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CA51CC3F-8B27-43E8-B4AE-19EAC40F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3193085"/>
            <a:ext cx="10239451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AEFF82">
                    <a:alpha val="80000"/>
                  </a:srgbClr>
                </a:solidFill>
                <a:latin typeface="Poppins"/>
                <a:ea typeface="Poppins"/>
                <a:cs typeface="Poppins"/>
              </a:rPr>
              <a:t>Explain how your solution will make an impact, such as improving </a:t>
            </a:r>
            <a:r>
              <a:rPr>
                <a:solidFill>
                  <a:srgbClr val="AEFF82">
                    <a:alpha val="80000"/>
                  </a:srgbClr>
                </a:solidFill>
                <a:latin typeface="Poppins"/>
                <a:ea typeface="Poppins"/>
                <a:cs typeface="Poppins"/>
              </a:rPr>
              <a:t>performance</a:t>
            </a:r>
            <a:r>
              <a:rPr sz="1800">
                <a:solidFill>
                  <a:srgbClr val="AEFF82">
                    <a:alpha val="80000"/>
                  </a:srgbClr>
                </a:solidFill>
                <a:latin typeface="Poppins"/>
                <a:ea typeface="Poppins"/>
                <a:cs typeface="Poppins"/>
              </a:rPr>
              <a:t>, reducing costs, increasing efficiency, or solving other challenges.</a:t>
            </a:r>
            <a:endParaRPr sz="1800"/>
          </a:p>
        </p:txBody>
      </p:sp>
      <p:sp>
        <p:nvSpPr>
          <p:cNvPr id="17" name="Shape 11">
            <a:extLst xmlns:a="http://schemas.openxmlformats.org/drawingml/2006/main">
              <a:ext uri="{FF2B5EF4-FFF2-40B4-BE49-F238E27FC236}">
                <a16:creationId xmlns:a16="http://schemas.microsoft.com/office/drawing/2014/main" id="{568489E9-F058-4439-AEC2-4CC1F403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4210812"/>
            <a:ext cx="5020056" cy="1200607"/>
          </a:xfrm>
          <a:prstGeom xmlns:a="http://schemas.openxmlformats.org/drawingml/2006/main" prst="roundRect">
            <a:avLst>
              <a:gd name="adj" fmla="val 4836"/>
            </a:avLst>
          </a:prstGeom>
          <a:solidFill xmlns:a="http://schemas.openxmlformats.org/drawingml/2006/main">
            <a:srgbClr val="1E3A8A">
              <a:alpha val="40000"/>
            </a:srgbClr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4b674105af497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00607" y="4486961"/>
            <a:ext cx="152705" cy="152705"/>
          </a:xfrm>
          <a:prstGeom xmlns:a="http://schemas.openxmlformats.org/drawingml/2006/main" prst="rect">
            <a:avLst/>
          </a:prstGeom>
        </p:spPr>
      </p:pic>
      <p:sp>
        <p:nvSpPr>
          <p:cNvPr id="19" name="Text 12">
            <a:extLst xmlns:a="http://schemas.openxmlformats.org/drawingml/2006/main">
              <a:ext uri="{FF2B5EF4-FFF2-40B4-BE49-F238E27FC236}">
                <a16:creationId xmlns:a16="http://schemas.microsoft.com/office/drawing/2014/main" id="{A9CC445A-5DE1-4757-96C8-07B9C45D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698" y="4448556"/>
            <a:ext cx="1324051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Primary Impact</a:t>
            </a:r>
            <a:endParaRPr sz="1200"/>
          </a:p>
        </p:txBody>
      </p:sp>
      <p:sp>
        <p:nvSpPr>
          <p:cNvPr id="20" name="Text 13">
            <a:extLst xmlns:a="http://schemas.openxmlformats.org/drawingml/2006/main">
              <a:ext uri="{FF2B5EF4-FFF2-40B4-BE49-F238E27FC236}">
                <a16:creationId xmlns:a16="http://schemas.microsoft.com/office/drawing/2014/main" id="{455D7BE9-0FBE-47C5-A7AD-4A39FFD6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607" y="4791456"/>
            <a:ext cx="4148633" cy="381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D1D5DB"/>
                </a:solidFill>
                <a:latin typeface="Poppins"/>
                <a:ea typeface="Poppins"/>
                <a:cs typeface="Poppins"/>
              </a:rPr>
              <a:t>Restores inspection contrast and resolution with measurable held-out gains while preserving a direct, explainable image-to-image path.</a:t>
            </a:r>
            <a:endParaRPr sz="1000"/>
          </a:p>
        </p:txBody>
      </p:sp>
      <p:sp>
        <p:nvSpPr>
          <p:cNvPr id="21" name="Shape 14">
            <a:extLst xmlns:a="http://schemas.openxmlformats.org/drawingml/2006/main">
              <a:ext uri="{FF2B5EF4-FFF2-40B4-BE49-F238E27FC236}">
                <a16:creationId xmlns:a16="http://schemas.microsoft.com/office/drawing/2014/main" id="{218BA4EA-078D-488A-BCBD-4721CD4F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605" y="4210812"/>
            <a:ext cx="5020056" cy="1200607"/>
          </a:xfrm>
          <a:prstGeom xmlns:a="http://schemas.openxmlformats.org/drawingml/2006/main" prst="roundRect">
            <a:avLst>
              <a:gd name="adj" fmla="val 4836"/>
            </a:avLst>
          </a:prstGeom>
          <a:solidFill xmlns:a="http://schemas.openxmlformats.org/drawingml/2006/main">
            <a:srgbClr val="1E3A8A">
              <a:alpha val="40000"/>
            </a:srgbClr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6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a69634359430f"/>
          <a:srcRect xmlns:a="http://schemas.openxmlformats.org/drawingml/2006/main" l="-33" t="0" r="-33" b="0"/>
          <a:stretch xmlns:a="http://schemas.openxmlformats.org/drawingml/2006/main"/>
        </p:blipFill>
        <p:spPr>
          <a:xfrm xmlns:a="http://schemas.openxmlformats.org/drawingml/2006/main">
            <a:off x="6448349" y="4486961"/>
            <a:ext cx="171907" cy="152705"/>
          </a:xfrm>
          <a:prstGeom xmlns:a="http://schemas.openxmlformats.org/drawingml/2006/main" prst="rect">
            <a:avLst/>
          </a:prstGeom>
        </p:spPr>
      </p:pic>
      <p:sp>
        <p:nvSpPr>
          <p:cNvPr id="23" name="Text 15">
            <a:extLst xmlns:a="http://schemas.openxmlformats.org/drawingml/2006/main">
              <a:ext uri="{FF2B5EF4-FFF2-40B4-BE49-F238E27FC236}">
                <a16:creationId xmlns:a16="http://schemas.microsoft.com/office/drawing/2014/main" id="{CE43DDC2-32E6-4533-88DE-B0C042C0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556" y="4448556"/>
            <a:ext cx="192481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Quantifiable Outcomes</a:t>
            </a:r>
            <a:endParaRPr sz="1200"/>
          </a:p>
        </p:txBody>
      </p:sp>
      <p:sp>
        <p:nvSpPr>
          <p:cNvPr id="24" name="Text 16">
            <a:extLst xmlns:a="http://schemas.openxmlformats.org/drawingml/2006/main">
              <a:ext uri="{FF2B5EF4-FFF2-40B4-BE49-F238E27FC236}">
                <a16:creationId xmlns:a16="http://schemas.microsoft.com/office/drawing/2014/main" id="{F456EB9F-5500-47C4-B816-A2A4CF74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349" y="4791456"/>
            <a:ext cx="3986784" cy="381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D1D5DB"/>
                </a:solidFill>
                <a:latin typeface="Poppins"/>
                <a:ea typeface="Poppins"/>
                <a:cs typeface="Poppins"/>
              </a:rPr>
              <a:t>480-image holdout: PSNR 27.20; SSIM 0.713; LPIPS 0.370. 400 official-test outputs generated; audit found 0 pairing or scale failures.</a:t>
            </a:r>
            <a:endParaRPr sz="1000"/>
          </a:p>
        </p:txBody>
      </p:sp>
      <p:pic>
        <p:nvPicPr>
          <p:cNvPr id="59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3fb328fcb48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06922" y="227710"/>
            <a:ext cx="1607366" cy="783591"/>
          </a:xfrm>
          <a:prstGeom xmlns:a="http://schemas.openxmlformats.org/drawingml/2006/main" prst="rect">
            <a:avLst/>
          </a:prstGeom>
        </p:spPr>
      </p:pic>
      <p:sp>
        <p:nvSpPr>
          <p:cNvPr id="27" name="Shape 1">
            <a:extLst xmlns:a="http://schemas.openxmlformats.org/drawingml/2006/main">
              <a:ext uri="{FF2B5EF4-FFF2-40B4-BE49-F238E27FC236}">
                <a16:creationId xmlns:a16="http://schemas.microsoft.com/office/drawing/2014/main" id="{850BA2BE-D607-619F-6960-A7127701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602"/>
            <a:ext cx="11048695" cy="857707"/>
          </a:xfrm>
          <a:prstGeom xmlns:a="http://schemas.openxmlformats.org/drawingml/2006/main" prst="roundRect">
            <a:avLst>
              <a:gd name="adj" fmla="val 9476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1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cb63b068a42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28859" y="329389"/>
            <a:ext cx="9163491" cy="5864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709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D5889E1-CF3F-4C14-B4CA-B6A12EFF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0432db49484871">
            <a:alphaModFix amt="10000"/>
          </a:blip>
          <a:srcRect xmlns:a="http://schemas.openxmlformats.org/drawingml/2006/main" l="12327" t="0" r="12327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179793A3-D980-4267-8CF3-258DA6AA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207"/>
            <a:ext cx="11048695" cy="666598"/>
          </a:xfrm>
          <a:prstGeom xmlns:a="http://schemas.openxmlformats.org/drawingml/2006/main" prst="roundRect">
            <a:avLst>
              <a:gd name="adj" fmla="val 15677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a5e2101c44774"/>
          <a:srcRect xmlns:a="http://schemas.openxmlformats.org/drawingml/2006/main" l="0" t="10" r="0" b="10"/>
          <a:stretch xmlns:a="http://schemas.openxmlformats.org/drawingml/2006/main"/>
        </p:blipFill>
        <p:spPr>
          <a:xfrm xmlns:a="http://schemas.openxmlformats.org/drawingml/2006/main">
            <a:off x="857707" y="381305"/>
            <a:ext cx="1266444" cy="476402"/>
          </a:xfrm>
          <a:prstGeom xmlns:a="http://schemas.openxmlformats.org/drawingml/2006/main" prst="rect">
            <a:avLst/>
          </a:prstGeom>
        </p:spPr>
      </p:pic>
      <p:pic>
        <p:nvPicPr>
          <p:cNvPr id="4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a53437f94497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58500" y="381305"/>
            <a:ext cx="476402" cy="476402"/>
          </a:xfrm>
          <a:prstGeom xmlns:a="http://schemas.openxmlformats.org/drawingml/2006/main" prst="rect">
            <a:avLst/>
          </a:prstGeom>
        </p:spPr>
      </p:pic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F4585253-D506-445C-A5FD-9CE032C7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098"/>
            <a:ext cx="75895" cy="4096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E5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08E81002-14F5-4FC2-8F7D-872A16A9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5" y="1200607"/>
            <a:ext cx="7824521" cy="467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Technology &amp; Feasibility</a:t>
            </a:r>
            <a:endParaRPr sz="2600"/>
          </a:p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51B3B6F4-4E11-4E8F-AB0D-051B387A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79092"/>
            <a:ext cx="11048695" cy="4695444"/>
          </a:xfrm>
          <a:prstGeom xmlns:a="http://schemas.openxmlformats.org/drawingml/2006/main" prst="roundRect">
            <a:avLst>
              <a:gd name="adj" fmla="val 632"/>
            </a:avLst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D92BEA66-77FE-488E-A48E-F271BC28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79092"/>
            <a:ext cx="190195" cy="190195"/>
          </a:xfrm>
          <a:prstGeom xmlns:a="http://schemas.openxmlformats.org/drawingml/2006/main" prst="roundRect">
            <a:avLst>
              <a:gd name="adj" fmla="val 192308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B59EEC11-F362-4602-B2D5-B584EDB4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879092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C5FFF5D9-EA51-4DB2-B781-4DEDE7BA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11BC4DA3-759E-4255-BC7F-17F0A190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4545BF31-3C87-4213-9F83-D7543431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2269541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83">
              <a:alpha val="50000"/>
            </a:srgbClr>
          </a:solidFill>
          <a:ln xmlns:a="http://schemas.openxmlformats.org/drawingml/2006/main" w="25400">
            <a:solidFill>
              <a:srgbClr val="AEFF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08fd0e2874b7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33856" y="2440534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06A99118-4205-4680-BFB5-DE662F70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049" y="2287829"/>
            <a:ext cx="9344254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AEFF82">
                    <a:alpha val="90000"/>
                  </a:srgbClr>
                </a:solidFill>
                <a:latin typeface="Poppins"/>
                <a:ea typeface="Poppins"/>
                <a:cs typeface="Poppins"/>
              </a:rPr>
              <a:t>Describe the technologies, methodologies, or tools you plan to use to implement your idea.</a:t>
            </a:r>
            <a:endParaRPr sz="1800"/>
          </a:p>
        </p:txBody>
      </p:sp>
      <p:sp>
        <p:nvSpPr>
          <p:cNvPr id="17" name="Shape 11">
            <a:extLst xmlns:a="http://schemas.openxmlformats.org/drawingml/2006/main">
              <a:ext uri="{FF2B5EF4-FFF2-40B4-BE49-F238E27FC236}">
                <a16:creationId xmlns:a16="http://schemas.microsoft.com/office/drawing/2014/main" id="{6DCD9C1A-AE88-4634-BE8F-606B97AA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049" y="3238805"/>
            <a:ext cx="9467698" cy="1276502"/>
          </a:xfrm>
          <a:prstGeom xmlns:a="http://schemas.openxmlformats.org/drawingml/2006/main" prst="roundRect">
            <a:avLst>
              <a:gd name="adj" fmla="val 4277"/>
            </a:avLst>
          </a:prstGeom>
          <a:solidFill xmlns:a="http://schemas.openxmlformats.org/drawingml/2006/main">
            <a:srgbClr val="1E3A8A">
              <a:alpha val="40000"/>
            </a:srgbClr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F112F8B1-25E8-4ACC-8281-5A53DFC6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707" y="3477463"/>
            <a:ext cx="2033626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9CA3AF"/>
                </a:solidFill>
                <a:latin typeface="Poppins"/>
                <a:ea typeface="Poppins"/>
                <a:cs typeface="Poppins"/>
              </a:rPr>
              <a:t>IMPLEMENTATION STRATEGY</a:t>
            </a:r>
            <a:endParaRPr sz="10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F4F7BB4E-C6C3-41C1-999A-8BCF8927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707" y="3753612"/>
            <a:ext cx="8748979" cy="50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i="1">
                <a:solidFill>
                  <a:srgbClr val="FFFFFF">
                    <a:alpha val="70000"/>
                  </a:srgbClr>
                </a:solidFill>
                <a:latin typeface="Poppins"/>
                <a:ea typeface="Poppins"/>
                <a:cs typeface="Poppins"/>
              </a:rPr>
              <a:t>PyTorch 2.13, NumPy/Pillow, scikit-image, and LPIPS. A 1-channel residual PixelShuffle network is packaged with standalone audit, train, evaluate, score, and visualization scripts. The CPU baseline is runnable now; H100 training is the next scaling step.</a:t>
            </a:r>
            <a:endParaRPr sz="130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505AB1BE-5920-4B15-96EB-65244242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5252314"/>
            <a:ext cx="3295498" cy="933602"/>
          </a:xfrm>
          <a:prstGeom xmlns:a="http://schemas.openxmlformats.org/drawingml/2006/main" prst="roundRect">
            <a:avLst>
              <a:gd name="adj" fmla="val 7995"/>
            </a:avLst>
          </a:prstGeom>
          <a:solidFill xmlns:a="http://schemas.openxmlformats.org/drawingml/2006/main">
            <a:srgbClr val="273383">
              <a:alpha val="40000"/>
            </a:srgbClr>
          </a:solidFill>
          <a:ln xmlns:a="http://schemas.openxmlformats.org/drawingml/2006/main"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483e88928142c9"/>
          <a:srcRect xmlns:a="http://schemas.openxmlformats.org/drawingml/2006/main" l="0" t="-45" r="0" b="-45"/>
          <a:stretch xmlns:a="http://schemas.openxmlformats.org/drawingml/2006/main"/>
        </p:blipFill>
        <p:spPr>
          <a:xfrm xmlns:a="http://schemas.openxmlformats.org/drawingml/2006/main">
            <a:off x="2481682" y="5451653"/>
            <a:ext cx="256946" cy="228600"/>
          </a:xfrm>
          <a:prstGeom xmlns:a="http://schemas.openxmlformats.org/drawingml/2006/main" prst="rect">
            <a:avLst/>
          </a:prstGeom>
        </p:spPr>
      </p:pic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7ACD6F95-189C-4FBB-8669-66DC85B6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8" y="5823814"/>
            <a:ext cx="1608430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E2E8F0"/>
                </a:solidFill>
                <a:latin typeface="Poppins"/>
                <a:ea typeface="Poppins"/>
                <a:cs typeface="Poppins"/>
              </a:rPr>
              <a:t>Model Architecture</a:t>
            </a:r>
            <a:endParaRPr sz="1000"/>
          </a:p>
        </p:txBody>
      </p:sp>
      <p:sp>
        <p:nvSpPr>
          <p:cNvPr id="23" name="Shape 16">
            <a:extLst xmlns:a="http://schemas.openxmlformats.org/drawingml/2006/main">
              <a:ext uri="{FF2B5EF4-FFF2-40B4-BE49-F238E27FC236}">
                <a16:creationId xmlns:a16="http://schemas.microsoft.com/office/drawing/2014/main" id="{574DA82D-6152-4F39-AE38-78C30015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556" y="5252314"/>
            <a:ext cx="3295498" cy="933602"/>
          </a:xfrm>
          <a:prstGeom xmlns:a="http://schemas.openxmlformats.org/drawingml/2006/main" prst="roundRect">
            <a:avLst>
              <a:gd name="adj" fmla="val 7995"/>
            </a:avLst>
          </a:prstGeom>
          <a:solidFill xmlns:a="http://schemas.openxmlformats.org/drawingml/2006/main">
            <a:srgbClr val="273383">
              <a:alpha val="40000"/>
            </a:srgbClr>
          </a:solidFill>
          <a:ln xmlns:a="http://schemas.openxmlformats.org/drawingml/2006/main"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3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8ad1674bb14f2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982005" y="5451653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5" name="Text 17">
            <a:extLst xmlns:a="http://schemas.openxmlformats.org/drawingml/2006/main">
              <a:ext uri="{FF2B5EF4-FFF2-40B4-BE49-F238E27FC236}">
                <a16:creationId xmlns:a16="http://schemas.microsoft.com/office/drawing/2014/main" id="{0E8C644F-8C56-41FA-B373-01C13E4D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1" y="5823814"/>
            <a:ext cx="1722730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E2E8F0"/>
                </a:solidFill>
                <a:latin typeface="Poppins"/>
                <a:ea typeface="Poppins"/>
                <a:cs typeface="Poppins"/>
              </a:rPr>
              <a:t>Compute Path</a:t>
            </a:r>
            <a:endParaRPr sz="1000"/>
          </a:p>
        </p:txBody>
      </p:sp>
      <p:sp>
        <p:nvSpPr>
          <p:cNvPr id="26" name="Shape 18">
            <a:extLst xmlns:a="http://schemas.openxmlformats.org/drawingml/2006/main">
              <a:ext uri="{FF2B5EF4-FFF2-40B4-BE49-F238E27FC236}">
                <a16:creationId xmlns:a16="http://schemas.microsoft.com/office/drawing/2014/main" id="{3F311C83-8FC8-4F1B-B40B-26370527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249" y="5252314"/>
            <a:ext cx="3295498" cy="933602"/>
          </a:xfrm>
          <a:prstGeom xmlns:a="http://schemas.openxmlformats.org/drawingml/2006/main" prst="roundRect">
            <a:avLst>
              <a:gd name="adj" fmla="val 7995"/>
            </a:avLst>
          </a:prstGeom>
          <a:solidFill xmlns:a="http://schemas.openxmlformats.org/drawingml/2006/main">
            <a:srgbClr val="273383">
              <a:alpha val="40000"/>
            </a:srgbClr>
          </a:solidFill>
          <a:ln xmlns:a="http://schemas.openxmlformats.org/drawingml/2006/main"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6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c954626f5745f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67698" y="5451653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8" name="Text 19">
            <a:extLst xmlns:a="http://schemas.openxmlformats.org/drawingml/2006/main">
              <a:ext uri="{FF2B5EF4-FFF2-40B4-BE49-F238E27FC236}">
                <a16:creationId xmlns:a16="http://schemas.microsoft.com/office/drawing/2014/main" id="{23300634-FD44-4C59-909F-BF1A57EF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9058" y="5823814"/>
            <a:ext cx="1436522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E2E8F0"/>
                </a:solidFill>
                <a:latin typeface="Poppins"/>
                <a:ea typeface="Poppins"/>
                <a:cs typeface="Poppins"/>
              </a:rPr>
              <a:t>Toolchain</a:t>
            </a:r>
            <a:endParaRPr sz="1000"/>
          </a:p>
        </p:txBody>
      </p:sp>
      <p:pic>
        <p:nvPicPr>
          <p:cNvPr id="68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107045ea8a47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44743" y="228600"/>
            <a:ext cx="1607366" cy="783591"/>
          </a:xfrm>
          <a:prstGeom xmlns:a="http://schemas.openxmlformats.org/drawingml/2006/main" prst="rect">
            <a:avLst/>
          </a:prstGeom>
        </p:spPr>
      </p:pic>
      <p:sp>
        <p:nvSpPr>
          <p:cNvPr id="31" name="Shape 1">
            <a:extLst xmlns:a="http://schemas.openxmlformats.org/drawingml/2006/main">
              <a:ext uri="{FF2B5EF4-FFF2-40B4-BE49-F238E27FC236}">
                <a16:creationId xmlns:a16="http://schemas.microsoft.com/office/drawing/2014/main" id="{10B6379C-1BCE-6784-4600-934501FC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793"/>
            <a:ext cx="11048695" cy="857707"/>
          </a:xfrm>
          <a:prstGeom xmlns:a="http://schemas.openxmlformats.org/drawingml/2006/main" prst="roundRect">
            <a:avLst>
              <a:gd name="adj" fmla="val 9476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0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39094586441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14101" y="378206"/>
            <a:ext cx="9163491" cy="5864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38115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EA501D0-8A19-4E67-95AD-A0A40CCF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5144a360214a68">
            <a:alphaModFix amt="10000"/>
          </a:blip>
          <a:srcRect xmlns:a="http://schemas.openxmlformats.org/drawingml/2006/main" l="12327" t="0" r="12327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A41A7157-29EF-4A57-A653-8E9DEC8D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207"/>
            <a:ext cx="11048695" cy="666598"/>
          </a:xfrm>
          <a:prstGeom xmlns:a="http://schemas.openxmlformats.org/drawingml/2006/main" prst="roundRect">
            <a:avLst>
              <a:gd name="adj" fmla="val 15677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daa567b0d34b54"/>
          <a:srcRect xmlns:a="http://schemas.openxmlformats.org/drawingml/2006/main" l="0" t="10" r="0" b="10"/>
          <a:stretch xmlns:a="http://schemas.openxmlformats.org/drawingml/2006/main"/>
        </p:blipFill>
        <p:spPr>
          <a:xfrm xmlns:a="http://schemas.openxmlformats.org/drawingml/2006/main">
            <a:off x="857707" y="381305"/>
            <a:ext cx="1266444" cy="476402"/>
          </a:xfrm>
          <a:prstGeom xmlns:a="http://schemas.openxmlformats.org/drawingml/2006/main" prst="rect">
            <a:avLst/>
          </a:prstGeom>
        </p:spPr>
      </p:pic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cfa437b2bf4a3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58500" y="381305"/>
            <a:ext cx="476402" cy="476402"/>
          </a:xfrm>
          <a:prstGeom xmlns:a="http://schemas.openxmlformats.org/drawingml/2006/main" prst="rect">
            <a:avLst/>
          </a:prstGeom>
        </p:spPr>
      </p:pic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989EFA4C-9EA9-49A9-8E70-6551D6C9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195"/>
            <a:ext cx="75895" cy="4096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E5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A033798D-29DA-4E18-8051-52661D87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5" y="1295705"/>
            <a:ext cx="3604565" cy="467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Repository &amp; Prototype Handoff</a:t>
            </a:r>
            <a:endParaRPr sz="2600"/>
          </a:p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7B3E7092-4598-446B-B4A5-CC3131E2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1738"/>
            <a:ext cx="11048695" cy="4552798"/>
          </a:xfrm>
          <a:prstGeom xmlns:a="http://schemas.openxmlformats.org/drawingml/2006/main" prst="roundRect">
            <a:avLst>
              <a:gd name="adj" fmla="val 672"/>
            </a:avLst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B6DB6722-476A-49A5-A003-303F61D4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1738"/>
            <a:ext cx="190195" cy="190195"/>
          </a:xfrm>
          <a:prstGeom xmlns:a="http://schemas.openxmlformats.org/drawingml/2006/main" prst="roundRect">
            <a:avLst>
              <a:gd name="adj" fmla="val 192308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B06106E6-792D-44FD-A0CB-3623C576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02173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4A14A202-4821-4E92-961D-C7D01DE0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2FF9ECBA-F12C-48AF-96BB-BE82F9EB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F6BA8FAD-EC0D-4958-9540-23B97FAC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49" y="2696566"/>
            <a:ext cx="9810598" cy="1447495"/>
          </a:xfrm>
          <a:prstGeom xmlns:a="http://schemas.openxmlformats.org/drawingml/2006/main" prst="roundRect">
            <a:avLst>
              <a:gd name="adj" fmla="val 4987"/>
            </a:avLst>
          </a:prstGeom>
          <a:noFill xmlns:a="http://schemas.openxmlformats.org/drawingml/2006/main"/>
          <a:ln xmlns:a="http://schemas.openxmlformats.org/drawingml/2006/main"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266CC432-775B-42D4-B383-894849C5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207" y="3087014"/>
            <a:ext cx="666598" cy="6665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83">
              <a:alpha val="60000"/>
            </a:srgbClr>
          </a:solidFill>
          <a:ln xmlns:a="http://schemas.openxmlformats.org/drawingml/2006/main" w="25400">
            <a:solidFill>
              <a:srgbClr val="AEFF82"/>
            </a:solidFill>
            <a:prstDash val="solid"/>
          </a:ln>
          <a:effectLst xmlns:a="http://schemas.openxmlformats.org/drawingml/2006/main"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e3c973192472d"/>
          <a:srcRect xmlns:a="http://schemas.openxmlformats.org/drawingml/2006/main" l="-237" t="0" r="-237" b="0"/>
          <a:stretch xmlns:a="http://schemas.openxmlformats.org/drawingml/2006/main"/>
        </p:blipFill>
        <p:spPr>
          <a:xfrm xmlns:a="http://schemas.openxmlformats.org/drawingml/2006/main">
            <a:off x="1595628" y="3248863"/>
            <a:ext cx="333756" cy="342900"/>
          </a:xfrm>
          <a:prstGeom xmlns:a="http://schemas.openxmlformats.org/drawingml/2006/main" prst="rect">
            <a:avLst/>
          </a:prstGeom>
        </p:spPr>
      </p:pic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AC523D36-F3FF-464F-BF72-0956C751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34310"/>
            <a:ext cx="2000707" cy="2670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88E555"/>
                </a:solidFill>
                <a:latin typeface="Poppins"/>
                <a:ea typeface="Poppins"/>
                <a:cs typeface="Poppins"/>
              </a:rPr>
              <a:t>GitHub Repository</a:t>
            </a:r>
            <a:endParaRPr sz="1500"/>
          </a:p>
        </p:txBody>
      </p:sp>
      <p:sp>
        <p:nvSpPr>
          <p:cNvPr id="18" name="Shape 12">
            <a:extLst xmlns:a="http://schemas.openxmlformats.org/drawingml/2006/main">
              <a:ext uri="{FF2B5EF4-FFF2-40B4-BE49-F238E27FC236}">
                <a16:creationId xmlns:a16="http://schemas.microsoft.com/office/drawing/2014/main" id="{15E172F0-DC3F-4C96-B05C-23F824A2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15614"/>
            <a:ext cx="8363102" cy="590702"/>
          </a:xfrm>
          <a:prstGeom xmlns:a="http://schemas.openxmlformats.org/drawingml/2006/main" prst="roundRect">
            <a:avLst>
              <a:gd name="adj" fmla="val 19974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12700">
            <a:solidFill>
              <a:srgbClr val="4B55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7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ebc25cde441d6"/>
          <a:srcRect xmlns:a="http://schemas.openxmlformats.org/drawingml/2006/main" l="0" t="-180" r="0" b="-180"/>
          <a:stretch xmlns:a="http://schemas.openxmlformats.org/drawingml/2006/main"/>
        </p:blipFill>
        <p:spPr>
          <a:xfrm xmlns:a="http://schemas.openxmlformats.org/drawingml/2006/main">
            <a:off x="2562149" y="3535070"/>
            <a:ext cx="190195" cy="152705"/>
          </a:xfrm>
          <a:prstGeom xmlns:a="http://schemas.openxmlformats.org/drawingml/2006/main" prst="rect">
            <a:avLst/>
          </a:prstGeom>
        </p:spPr>
      </p:pic>
      <p:sp>
        <p:nvSpPr>
          <p:cNvPr id="20" name="Text 13">
            <a:extLst xmlns:a="http://schemas.openxmlformats.org/drawingml/2006/main">
              <a:ext uri="{FF2B5EF4-FFF2-40B4-BE49-F238E27FC236}">
                <a16:creationId xmlns:a16="http://schemas.microsoft.com/office/drawing/2014/main" id="{1F7C457B-47A1-4D49-B31C-601DF85D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6644" y="3487522"/>
            <a:ext cx="3891686" cy="2386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i="1">
                <a:solidFill>
                  <a:srgbClr val="D1D5DB"/>
                </a:solidFill>
                <a:latin typeface="Poppins"/>
                <a:ea typeface="Poppins"/>
                <a:cs typeface="Poppins"/>
              </a:rPr>
              <a:t>[Public GitHub URL — add before submission]</a:t>
            </a:r>
            <a:endParaRPr sz="1300"/>
          </a:p>
        </p:txBody>
      </p:sp>
      <p:sp>
        <p:nvSpPr>
          <p:cNvPr id="21" name="Shape 14">
            <a:extLst xmlns:a="http://schemas.openxmlformats.org/drawingml/2006/main">
              <a:ext uri="{FF2B5EF4-FFF2-40B4-BE49-F238E27FC236}">
                <a16:creationId xmlns:a16="http://schemas.microsoft.com/office/drawing/2014/main" id="{D715B1C6-B404-44FE-B2A0-0898321B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49" y="4449470"/>
            <a:ext cx="9810598" cy="1447495"/>
          </a:xfrm>
          <a:prstGeom xmlns:a="http://schemas.openxmlformats.org/drawingml/2006/main" prst="roundRect">
            <a:avLst>
              <a:gd name="adj" fmla="val 4987"/>
            </a:avLst>
          </a:prstGeom>
          <a:noFill xmlns:a="http://schemas.openxmlformats.org/drawingml/2006/main"/>
          <a:ln xmlns:a="http://schemas.openxmlformats.org/drawingml/2006/main"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hape 15">
            <a:extLst xmlns:a="http://schemas.openxmlformats.org/drawingml/2006/main">
              <a:ext uri="{FF2B5EF4-FFF2-40B4-BE49-F238E27FC236}">
                <a16:creationId xmlns:a16="http://schemas.microsoft.com/office/drawing/2014/main" id="{BC2F7C08-ABED-480D-82CE-98DDFC47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207" y="4839919"/>
            <a:ext cx="666598" cy="6665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83">
              <a:alpha val="60000"/>
            </a:srgbClr>
          </a:solidFill>
          <a:ln xmlns:a="http://schemas.openxmlformats.org/drawingml/2006/main" w="25400">
            <a:solidFill>
              <a:srgbClr val="AEFF82"/>
            </a:solidFill>
            <a:prstDash val="solid"/>
          </a:ln>
          <a:effectLst xmlns:a="http://schemas.openxmlformats.org/drawingml/2006/main"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fd7778696494c"/>
          <a:srcRect xmlns:a="http://schemas.openxmlformats.org/drawingml/2006/main" l="-607" t="0" r="-607" b="0"/>
          <a:stretch xmlns:a="http://schemas.openxmlformats.org/drawingml/2006/main"/>
        </p:blipFill>
        <p:spPr>
          <a:xfrm xmlns:a="http://schemas.openxmlformats.org/drawingml/2006/main">
            <a:off x="1567282" y="5001768"/>
            <a:ext cx="390449" cy="342900"/>
          </a:xfrm>
          <a:prstGeom xmlns:a="http://schemas.openxmlformats.org/drawingml/2006/main" prst="rect">
            <a:avLst/>
          </a:prstGeom>
        </p:spPr>
      </p:pic>
      <p:sp>
        <p:nvSpPr>
          <p:cNvPr id="24" name="Text 16">
            <a:extLst xmlns:a="http://schemas.openxmlformats.org/drawingml/2006/main">
              <a:ext uri="{FF2B5EF4-FFF2-40B4-BE49-F238E27FC236}">
                <a16:creationId xmlns:a16="http://schemas.microsoft.com/office/drawing/2014/main" id="{52BC0E25-9814-4B9D-A5D5-298D617B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87214"/>
            <a:ext cx="3086100" cy="2670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88E555"/>
                </a:solidFill>
                <a:latin typeface="Poppins"/>
                <a:ea typeface="Poppins"/>
                <a:cs typeface="Poppins"/>
              </a:rPr>
              <a:t>Prototype / Simulation Video</a:t>
            </a:r>
            <a:endParaRPr sz="1500"/>
          </a:p>
        </p:txBody>
      </p:sp>
      <p:sp>
        <p:nvSpPr>
          <p:cNvPr id="25" name="Shape 17">
            <a:extLst xmlns:a="http://schemas.openxmlformats.org/drawingml/2006/main">
              <a:ext uri="{FF2B5EF4-FFF2-40B4-BE49-F238E27FC236}">
                <a16:creationId xmlns:a16="http://schemas.microsoft.com/office/drawing/2014/main" id="{914133F2-D938-4873-AFB9-0A412011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68519"/>
            <a:ext cx="8363102" cy="590702"/>
          </a:xfrm>
          <a:prstGeom xmlns:a="http://schemas.openxmlformats.org/drawingml/2006/main" prst="roundRect">
            <a:avLst>
              <a:gd name="adj" fmla="val 19974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12700">
            <a:solidFill>
              <a:srgbClr val="4B55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d012b091424d0a"/>
          <a:srcRect xmlns:a="http://schemas.openxmlformats.org/drawingml/2006/main" l="-33" t="0" r="-33" b="0"/>
          <a:stretch xmlns:a="http://schemas.openxmlformats.org/drawingml/2006/main"/>
        </p:blipFill>
        <p:spPr>
          <a:xfrm xmlns:a="http://schemas.openxmlformats.org/drawingml/2006/main">
            <a:off x="2562149" y="5287061"/>
            <a:ext cx="171907" cy="152705"/>
          </a:xfrm>
          <a:prstGeom xmlns:a="http://schemas.openxmlformats.org/drawingml/2006/main" prst="rect">
            <a:avLst/>
          </a:prstGeom>
        </p:spPr>
      </p:pic>
      <p:sp>
        <p:nvSpPr>
          <p:cNvPr id="27" name="Text 18">
            <a:extLst xmlns:a="http://schemas.openxmlformats.org/drawingml/2006/main">
              <a:ext uri="{FF2B5EF4-FFF2-40B4-BE49-F238E27FC236}">
                <a16:creationId xmlns:a16="http://schemas.microsoft.com/office/drawing/2014/main" id="{0E5F47ED-ECE6-4F27-9CD2-92E12E1D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8356" y="5239512"/>
            <a:ext cx="6053328" cy="2386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i="1">
                <a:solidFill>
                  <a:srgbClr val="D1D5DB"/>
                </a:solidFill>
                <a:latin typeface="Poppins"/>
                <a:ea typeface="Poppins"/>
                <a:cs typeface="Poppins"/>
              </a:rPr>
              <a:t>[Optional demo URL — add before submission]</a:t>
            </a:r>
            <a:endParaRPr sz="1300"/>
          </a:p>
        </p:txBody>
      </p:sp>
      <p:pic>
        <p:nvPicPr>
          <p:cNvPr id="66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ef4b8f54448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92164" y="227710"/>
            <a:ext cx="1607366" cy="783591"/>
          </a:xfrm>
          <a:prstGeom xmlns:a="http://schemas.openxmlformats.org/drawingml/2006/main" prst="rect">
            <a:avLst/>
          </a:prstGeom>
        </p:spPr>
      </p:pic>
      <p:sp>
        <p:nvSpPr>
          <p:cNvPr id="30" name="Shape 1">
            <a:extLst xmlns:a="http://schemas.openxmlformats.org/drawingml/2006/main">
              <a:ext uri="{FF2B5EF4-FFF2-40B4-BE49-F238E27FC236}">
                <a16:creationId xmlns:a16="http://schemas.microsoft.com/office/drawing/2014/main" id="{89A93441-4E5C-0FCA-6BDD-16AB2E1B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944"/>
            <a:ext cx="11048695" cy="857707"/>
          </a:xfrm>
          <a:prstGeom xmlns:a="http://schemas.openxmlformats.org/drawingml/2006/main" prst="roundRect">
            <a:avLst>
              <a:gd name="adj" fmla="val 9476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8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07748a140e40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14101" y="297181"/>
            <a:ext cx="9163491" cy="5864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72137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240623-433C-4540-A0E0-B0854A90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0c2485d5741df">
            <a:alphaModFix amt="10000"/>
          </a:blip>
          <a:srcRect xmlns:a="http://schemas.openxmlformats.org/drawingml/2006/main" l="12327" t="0" r="12327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D6ADDCDD-8322-473C-9F6C-5A66198D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207"/>
            <a:ext cx="11048695" cy="666598"/>
          </a:xfrm>
          <a:prstGeom xmlns:a="http://schemas.openxmlformats.org/drawingml/2006/main" prst="roundRect">
            <a:avLst>
              <a:gd name="adj" fmla="val 15677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e58fadcc354fb6"/>
          <a:srcRect xmlns:a="http://schemas.openxmlformats.org/drawingml/2006/main" l="0" t="10" r="0" b="10"/>
          <a:stretch xmlns:a="http://schemas.openxmlformats.org/drawingml/2006/main"/>
        </p:blipFill>
        <p:spPr>
          <a:xfrm xmlns:a="http://schemas.openxmlformats.org/drawingml/2006/main">
            <a:off x="857707" y="381305"/>
            <a:ext cx="1266444" cy="476402"/>
          </a:xfrm>
          <a:prstGeom xmlns:a="http://schemas.openxmlformats.org/drawingml/2006/main" prst="rect">
            <a:avLst/>
          </a:prstGeom>
        </p:spPr>
      </p:pic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dbcc44c964e4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58500" y="381305"/>
            <a:ext cx="476402" cy="476402"/>
          </a:xfrm>
          <a:prstGeom xmlns:a="http://schemas.openxmlformats.org/drawingml/2006/main" prst="rect">
            <a:avLst/>
          </a:prstGeom>
        </p:spPr>
      </p:pic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54F250BE-D50B-42A5-B9E5-A1B2BA00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549"/>
            <a:ext cx="75895" cy="4096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E5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94CE0CFD-5A9D-4C73-B754-878CD025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5" y="1152144"/>
            <a:ext cx="4624121" cy="467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Research Basis &amp; References</a:t>
            </a:r>
            <a:endParaRPr sz="2600"/>
          </a:p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8764CBAB-1125-4184-88E7-C2C84C86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30629"/>
            <a:ext cx="11048695" cy="4743907"/>
          </a:xfrm>
          <a:prstGeom xmlns:a="http://schemas.openxmlformats.org/drawingml/2006/main" prst="roundRect">
            <a:avLst>
              <a:gd name="adj" fmla="val 619"/>
            </a:avLst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376D420D-1EB3-4ADB-88AA-ED2BF6DB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30629"/>
            <a:ext cx="190195" cy="190195"/>
          </a:xfrm>
          <a:prstGeom xmlns:a="http://schemas.openxmlformats.org/drawingml/2006/main" prst="roundRect">
            <a:avLst>
              <a:gd name="adj" fmla="val 192308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0DD088AF-6472-4B6D-ACD4-6A7EDED0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830629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B59209D7-B5E2-47C9-B0B4-6EEF3B0E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D7224809-2CA3-4F83-8974-A7D890AB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598"/>
            <a:ext cx="190195" cy="19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8E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57DD6F61-91E6-498B-BBA3-8D653335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2173529"/>
            <a:ext cx="476402" cy="4764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83">
              <a:alpha val="50000"/>
            </a:srgbClr>
          </a:solidFill>
          <a:ln xmlns:a="http://schemas.openxmlformats.org/drawingml/2006/main" w="25400">
            <a:solidFill>
              <a:srgbClr val="AEFF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666dcdd214477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6307" y="229788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7F718439-D42A-4BE0-A692-7A29AD1D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546" y="2173529"/>
            <a:ext cx="3810305" cy="2670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88E555"/>
                </a:solidFill>
                <a:latin typeface="Poppins"/>
                <a:ea typeface="Poppins"/>
                <a:cs typeface="Poppins"/>
              </a:rPr>
              <a:t>Research Background &amp; Methodology</a:t>
            </a:r>
            <a:endParaRPr sz="1500"/>
          </a:p>
        </p:txBody>
      </p:sp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C1FEA754-4F80-4604-9542-9DFF1DA6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546" y="2516429"/>
            <a:ext cx="5701284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D1D5DB"/>
                </a:solidFill>
                <a:latin typeface="Poppins"/>
                <a:ea typeface="Poppins"/>
                <a:cs typeface="Poppins"/>
              </a:rPr>
              <a:t>Briefly describe the research foundation or scientific principles supporting your idea.</a:t>
            </a:r>
            <a:endParaRPr sz="1000"/>
          </a:p>
        </p:txBody>
      </p:sp>
      <p:sp>
        <p:nvSpPr>
          <p:cNvPr id="18" name="Shape 12">
            <a:extLst xmlns:a="http://schemas.openxmlformats.org/drawingml/2006/main">
              <a:ext uri="{FF2B5EF4-FFF2-40B4-BE49-F238E27FC236}">
                <a16:creationId xmlns:a16="http://schemas.microsoft.com/office/drawing/2014/main" id="{A63590FE-12B8-499A-AD21-A2226EAE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546" y="2783434"/>
            <a:ext cx="9601200" cy="1067105"/>
          </a:xfrm>
          <a:prstGeom xmlns:a="http://schemas.openxmlformats.org/drawingml/2006/main" prst="roundRect">
            <a:avLst>
              <a:gd name="adj" fmla="val 6121"/>
            </a:avLst>
          </a:prstGeom>
          <a:solidFill xmlns:a="http://schemas.openxmlformats.org/drawingml/2006/main">
            <a:srgbClr val="1E3A8A">
              <a:alpha val="40000"/>
            </a:srgbClr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602BFB31-41A7-4C3F-8414-C5AAED77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395" y="2945282"/>
            <a:ext cx="5544007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i="1">
                <a:solidFill>
                  <a:srgbClr val="FFFFFF">
                    <a:alpha val="70000"/>
                  </a:srgbClr>
                </a:solidFill>
                <a:latin typeface="Poppins"/>
                <a:ea typeface="Poppins"/>
                <a:cs typeface="Poppins"/>
              </a:rPr>
              <a:t>Paired supervised restoration uses clean targets, robust normalization, synthetic degradations, and perceptual/fidelity metrics. Evaluation reports PSNR, SSIM, and LPIPS on a held-out split.</a:t>
            </a:r>
            <a:endParaRPr sz="120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1ED913E8-F639-4214-BF6F-34F6A474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9" y="4155034"/>
            <a:ext cx="476402" cy="4764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383">
              <a:alpha val="50000"/>
            </a:srgbClr>
          </a:solidFill>
          <a:ln xmlns:a="http://schemas.openxmlformats.org/drawingml/2006/main" w="25400">
            <a:solidFill>
              <a:srgbClr val="AEFF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4da482e9e4b05"/>
          <a:srcRect xmlns:a="http://schemas.openxmlformats.org/drawingml/2006/main" l="-80" t="0" r="-80" b="0"/>
          <a:stretch xmlns:a="http://schemas.openxmlformats.org/drawingml/2006/main"/>
        </p:blipFill>
        <p:spPr>
          <a:xfrm xmlns:a="http://schemas.openxmlformats.org/drawingml/2006/main">
            <a:off x="1057046" y="4279392"/>
            <a:ext cx="286207" cy="228600"/>
          </a:xfrm>
          <a:prstGeom xmlns:a="http://schemas.openxmlformats.org/drawingml/2006/main" prst="rect">
            <a:avLst/>
          </a:prstGeom>
        </p:spPr>
      </p:pic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66F5BF79-FC4E-4FC2-9B49-7BCC98D0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546" y="4155034"/>
            <a:ext cx="2343607" cy="2670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88E555"/>
                </a:solidFill>
                <a:latin typeface="Poppins"/>
                <a:ea typeface="Poppins"/>
                <a:cs typeface="Poppins"/>
              </a:rPr>
              <a:t>References &amp; Citations</a:t>
            </a:r>
            <a:endParaRPr sz="1500"/>
          </a:p>
        </p:txBody>
      </p:sp>
      <p:sp>
        <p:nvSpPr>
          <p:cNvPr id="23" name="Text 16">
            <a:extLst xmlns:a="http://schemas.openxmlformats.org/drawingml/2006/main">
              <a:ext uri="{FF2B5EF4-FFF2-40B4-BE49-F238E27FC236}">
                <a16:creationId xmlns:a16="http://schemas.microsoft.com/office/drawing/2014/main" id="{EA6D19F2-F27B-45C4-A7D8-8FFF031B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546" y="4497934"/>
            <a:ext cx="2767889" cy="191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D1D5DB"/>
                </a:solidFill>
                <a:latin typeface="Poppins"/>
                <a:ea typeface="Poppins"/>
                <a:cs typeface="Poppins"/>
              </a:rPr>
              <a:t>List key papers, articles, or data sources.</a:t>
            </a:r>
            <a:endParaRPr sz="1000"/>
          </a:p>
        </p:txBody>
      </p:sp>
      <p:sp>
        <p:nvSpPr>
          <p:cNvPr id="24" name="Shape 17">
            <a:extLst xmlns:a="http://schemas.openxmlformats.org/drawingml/2006/main">
              <a:ext uri="{FF2B5EF4-FFF2-40B4-BE49-F238E27FC236}">
                <a16:creationId xmlns:a16="http://schemas.microsoft.com/office/drawing/2014/main" id="{6A825B9F-F983-4BDF-B586-71309C20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546" y="4764938"/>
            <a:ext cx="9601200" cy="1410005"/>
          </a:xfrm>
          <a:prstGeom xmlns:a="http://schemas.openxmlformats.org/drawingml/2006/main" prst="roundRect">
            <a:avLst>
              <a:gd name="adj" fmla="val 3505"/>
            </a:avLst>
          </a:prstGeom>
          <a:solidFill xmlns:a="http://schemas.openxmlformats.org/drawingml/2006/main">
            <a:srgbClr val="1E3A8A">
              <a:alpha val="40000"/>
            </a:srgbClr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hape 18">
            <a:extLst xmlns:a="http://schemas.openxmlformats.org/drawingml/2006/main">
              <a:ext uri="{FF2B5EF4-FFF2-40B4-BE49-F238E27FC236}">
                <a16:creationId xmlns:a16="http://schemas.microsoft.com/office/drawing/2014/main" id="{D5B97B8D-BB90-48F7-83B4-F3CCA56D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395" y="5232197"/>
            <a:ext cx="9277502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3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474EF05E-5530-4D4D-9F49-6EEB9648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395" y="4926787"/>
            <a:ext cx="321960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</a:rPr>
              <a:t>i4C Hackathon 2026 — KLA problem statement: i4c.in/hackathon-2026/#ps</a:t>
            </a:r>
            <a:endParaRPr sz="1200"/>
          </a:p>
        </p:txBody>
      </p:sp>
      <p:sp>
        <p:nvSpPr>
          <p:cNvPr id="27" name="Shape 20">
            <a:extLst xmlns:a="http://schemas.openxmlformats.org/drawingml/2006/main">
              <a:ext uri="{FF2B5EF4-FFF2-40B4-BE49-F238E27FC236}">
                <a16:creationId xmlns:a16="http://schemas.microsoft.com/office/drawing/2014/main" id="{42B1AEFE-40C7-421B-B02F-E785F2DE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395" y="5661050"/>
            <a:ext cx="9277502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3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973D0D6D-5B1D-4FD0-B817-ECECDB70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395" y="5355641"/>
            <a:ext cx="325800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</a:rPr>
              <a:t>Zhang et al. (2018), LPIPS: arxiv.org/abs/1801.03924</a:t>
            </a:r>
            <a:endParaRPr sz="1200"/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BE7E17AF-B6AD-460C-81A7-696BE47A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395" y="5783580"/>
            <a:ext cx="325800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</a:rPr>
              <a:t>Wang et al. (2004), SSIM: doi.org/10.1109/TIP.2003.819861</a:t>
            </a:r>
            <a:endParaRPr sz="1200"/>
          </a:p>
        </p:txBody>
      </p:sp>
      <p:pic>
        <p:nvPicPr>
          <p:cNvPr id="68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171f86e4c45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92164" y="227710"/>
            <a:ext cx="1607366" cy="783591"/>
          </a:xfrm>
          <a:prstGeom xmlns:a="http://schemas.openxmlformats.org/drawingml/2006/main" prst="rect">
            <a:avLst/>
          </a:prstGeom>
        </p:spPr>
      </p:pic>
      <p:sp>
        <p:nvSpPr>
          <p:cNvPr id="32" name="Shape 1">
            <a:extLst xmlns:a="http://schemas.openxmlformats.org/drawingml/2006/main">
              <a:ext uri="{FF2B5EF4-FFF2-40B4-BE49-F238E27FC236}">
                <a16:creationId xmlns:a16="http://schemas.microsoft.com/office/drawing/2014/main" id="{3E27E131-AC1D-E75C-0267-02565ACC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9714"/>
            <a:ext cx="11048695" cy="857707"/>
          </a:xfrm>
          <a:prstGeom xmlns:a="http://schemas.openxmlformats.org/drawingml/2006/main" prst="roundRect">
            <a:avLst>
              <a:gd name="adj" fmla="val 9476"/>
            </a:avLst>
          </a:prstGeom>
          <a:solidFill xmlns:a="http://schemas.openxmlformats.org/drawingml/2006/main">
            <a:srgbClr val="FFFFFF">
              <a:alpha val="95000"/>
            </a:srgbClr>
          </a:solidFill>
          <a:effectLst xmlns:a="http://schemas.openxmlformats.org/drawingml/2006/main"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0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d62875ba704f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14101" y="390016"/>
            <a:ext cx="9163491" cy="5864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5659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2026-08-11T22:58:10.2940000Z</dcterms:created>
  <dcterms:modified xsi:type="dcterms:W3CDTF">2026-08-11T22:58:10.2940000Z</dcterms:modified>
</coreProperties>
</file>